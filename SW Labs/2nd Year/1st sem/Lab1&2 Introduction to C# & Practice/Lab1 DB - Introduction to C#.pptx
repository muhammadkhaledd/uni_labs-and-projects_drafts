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49" roundtripDataSignature="AMtx7mgADyucQLTM0WY4WoQw8Wjxm/T7f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0AA03B4-8A47-4CB4-A600-BE6B973EB492}">
  <a:tblStyle styleId="{20AA03B4-8A47-4CB4-A600-BE6B973EB492}"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E5C57DC9-6AB1-4299-AF9C-C5C3B787C5C4}" styleName="Table_1">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DE9E8"/>
          </a:solidFill>
        </a:fill>
      </a:tcStyle>
    </a:wholeTbl>
    <a:band1H>
      <a:tcTxStyle/>
      <a:tcStyle>
        <a:fill>
          <a:solidFill>
            <a:srgbClr val="D8D0CD"/>
          </a:solidFill>
        </a:fill>
      </a:tcStyle>
    </a:band1H>
    <a:band2H>
      <a:tcTxStyle/>
    </a:band2H>
    <a:band1V>
      <a:tcTxStyle/>
      <a:tcStyle>
        <a:fill>
          <a:solidFill>
            <a:srgbClr val="D8D0CD"/>
          </a:solidFill>
        </a:fill>
      </a:tcStyle>
    </a:band1V>
    <a:band2V>
      <a:tcTxStyle/>
    </a:band2V>
    <a:lastCol>
      <a:tcTxStyle b="on" i="off">
        <a:font>
          <a:latin typeface="Calibri"/>
          <a:ea typeface="Calibri"/>
          <a:cs typeface="Calibri"/>
        </a:font>
        <a:schemeClr val="lt1"/>
      </a:tcTxStyle>
      <a:tcStyle>
        <a:fill>
          <a:solidFill>
            <a:schemeClr val="accent3"/>
          </a:solidFill>
        </a:fill>
      </a:tcStyle>
    </a:lastCol>
    <a:firstCol>
      <a:tcTxStyle b="on" i="off">
        <a:font>
          <a:latin typeface="Calibri"/>
          <a:ea typeface="Calibri"/>
          <a:cs typeface="Calibri"/>
        </a:font>
        <a:schemeClr val="lt1"/>
      </a:tcTxStyle>
      <a:tcStyle>
        <a:fill>
          <a:solidFill>
            <a:schemeClr val="accent3"/>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3"/>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3"/>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customschemas.google.com/relationships/presentationmetadata" Target="meta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 name="Google Shape;11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solidFill>
                  <a:schemeClr val="dk1"/>
                </a:solidFill>
                <a:latin typeface="Calibri"/>
                <a:ea typeface="Calibri"/>
                <a:cs typeface="Calibri"/>
                <a:sym typeface="Calibri"/>
              </a:rPr>
              <a:t>If I told you to cut a piece of paper with dimensions 5m by 5m, then surely you would do that. But suppose I ask you to cut 1000 pieces of paper of the same dimensions. In this case, you won't do the measuring 1000 times; obviously, you would make a frame of 5m by 5m, and then with the help of it you would be able to cut 1000 pieces of paper in less time. So, what you did was make a framework which would do a specific type of task.</a:t>
            </a:r>
            <a:endParaRPr/>
          </a:p>
        </p:txBody>
      </p:sp>
      <p:sp>
        <p:nvSpPr>
          <p:cNvPr id="118" name="Google Shape;11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p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 name="Google Shape;13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p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p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1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1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p1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p1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p1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2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p2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p2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p2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p2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p2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p2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p2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3" name="Google Shape;303;p2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0" name="Google Shape;310;p2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7" name="Google Shape;317;p3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3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4" name="Google Shape;324;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if (e.KeyCode == Keys.Enter)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MessageBox.Show("Hello  "+textBox1.Text+"!");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t>
            </a:r>
            <a:endParaRPr/>
          </a:p>
          <a:p>
            <a:pPr indent="0" lvl="0" marL="0" rtl="0" algn="l">
              <a:spcBef>
                <a:spcPts val="0"/>
              </a:spcBef>
              <a:spcAft>
                <a:spcPts val="0"/>
              </a:spcAft>
              <a:buNone/>
            </a:pPr>
            <a:r>
              <a:t/>
            </a:r>
            <a:endParaRPr/>
          </a:p>
        </p:txBody>
      </p:sp>
      <p:sp>
        <p:nvSpPr>
          <p:cNvPr id="325" name="Google Shape;325;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3" name="Google Shape;333;p3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3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0" name="Google Shape;340;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int count = 0;</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if (checkBox1.Checked)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count++;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if (checkBox2.Checked)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count++;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if (checkBox3.Checked)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count++;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textBox1.Text = count.ToString();</a:t>
            </a:r>
            <a:endParaRPr/>
          </a:p>
          <a:p>
            <a:pPr indent="0" lvl="0" marL="0" rtl="0" algn="l">
              <a:spcBef>
                <a:spcPts val="0"/>
              </a:spcBef>
              <a:spcAft>
                <a:spcPts val="0"/>
              </a:spcAft>
              <a:buNone/>
            </a:pPr>
            <a:r>
              <a:t/>
            </a:r>
            <a:endParaRPr/>
          </a:p>
        </p:txBody>
      </p:sp>
      <p:sp>
        <p:nvSpPr>
          <p:cNvPr id="341" name="Google Shape;341;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9" name="Google Shape;349;p3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6" name="Google Shape;356;p3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3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3" name="Google Shape;363;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u="none" strike="noStrike">
                <a:solidFill>
                  <a:schemeClr val="dk1"/>
                </a:solidFill>
                <a:latin typeface="Calibri"/>
                <a:ea typeface="Calibri"/>
                <a:cs typeface="Calibri"/>
                <a:sym typeface="Calibri"/>
              </a:rPr>
              <a:t>comboBox1.Items.Add("Sunday");</a:t>
            </a:r>
            <a:endParaRPr/>
          </a:p>
          <a:p>
            <a:pPr indent="0" lvl="0" marL="0" rtl="0" algn="l">
              <a:spcBef>
                <a:spcPts val="0"/>
              </a:spcBef>
              <a:spcAft>
                <a:spcPts val="0"/>
              </a:spcAft>
              <a:buNone/>
            </a:pPr>
            <a:r>
              <a:rPr b="0" i="0" lang="en-US" sz="1200" u="none" strike="noStrike">
                <a:solidFill>
                  <a:schemeClr val="dk1"/>
                </a:solidFill>
                <a:latin typeface="Calibri"/>
                <a:ea typeface="Calibri"/>
                <a:cs typeface="Calibri"/>
                <a:sym typeface="Calibri"/>
              </a:rPr>
              <a:t>comboBox21Items.Add("Monday ");</a:t>
            </a:r>
            <a:endParaRPr/>
          </a:p>
          <a:p>
            <a:pPr indent="0" lvl="0" marL="0" rtl="0" algn="l">
              <a:spcBef>
                <a:spcPts val="0"/>
              </a:spcBef>
              <a:spcAft>
                <a:spcPts val="0"/>
              </a:spcAft>
              <a:buNone/>
            </a:pPr>
            <a:r>
              <a:rPr b="0" i="0" lang="en-US" sz="1200" u="none" strike="noStrike">
                <a:solidFill>
                  <a:schemeClr val="dk1"/>
                </a:solidFill>
                <a:latin typeface="Calibri"/>
                <a:ea typeface="Calibri"/>
                <a:cs typeface="Calibri"/>
                <a:sym typeface="Calibri"/>
              </a:rPr>
              <a:t>comboBox1.DataSource= new string[] {"Sunday ",“Monday"};</a:t>
            </a:r>
            <a:endParaRPr/>
          </a:p>
        </p:txBody>
      </p:sp>
      <p:sp>
        <p:nvSpPr>
          <p:cNvPr id="364" name="Google Shape;364;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3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1" name="Google Shape;371;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 if (comboBox1.SelectedItem.ToString() == "day")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comboBox2.DataSource = new string[] { "Sunday ", "Monday" };</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if (comboBox1.SelectedItem.ToString() == "month")</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comboBox2.DataSource = new string[] { "feb ", "jan" };</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t/>
            </a:r>
            <a:endParaRPr/>
          </a:p>
        </p:txBody>
      </p:sp>
      <p:sp>
        <p:nvSpPr>
          <p:cNvPr id="372" name="Google Shape;372;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3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9" name="Google Shape;379;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dataGridView1.Columns.Add("Name","Job");</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dataGridView1.Columns.Add("Name2", "name");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string[] row=new string[] {"Soha","Student"};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dataGridView1.Rows.Add(row);</a:t>
            </a:r>
            <a:endParaRPr/>
          </a:p>
          <a:p>
            <a:pPr indent="0" lvl="0" marL="0" rtl="0" algn="l">
              <a:spcBef>
                <a:spcPts val="0"/>
              </a:spcBef>
              <a:spcAft>
                <a:spcPts val="0"/>
              </a:spcAft>
              <a:buNone/>
            </a:pPr>
            <a:r>
              <a:t/>
            </a:r>
            <a:endParaRPr/>
          </a:p>
        </p:txBody>
      </p:sp>
      <p:sp>
        <p:nvSpPr>
          <p:cNvPr id="380" name="Google Shape;380;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3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7" name="Google Shape;387;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 String value = dataGridView1.Rows[0].Cells["Name"].Value.ToString();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textBox1.Text = value;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t/>
            </a:r>
            <a:endParaRPr/>
          </a:p>
        </p:txBody>
      </p:sp>
      <p:sp>
        <p:nvSpPr>
          <p:cNvPr id="388" name="Google Shape;388;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4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5" name="Google Shape;395;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 dataGridView1.Rows.RemoveAt(e.RowIndex);</a:t>
            </a:r>
            <a:endParaRPr/>
          </a:p>
          <a:p>
            <a:pPr indent="0" lvl="0" marL="0" rtl="0" algn="l">
              <a:spcBef>
                <a:spcPts val="0"/>
              </a:spcBef>
              <a:spcAft>
                <a:spcPts val="0"/>
              </a:spcAft>
              <a:buNone/>
            </a:pPr>
            <a:r>
              <a:t/>
            </a:r>
            <a:endParaRPr/>
          </a:p>
        </p:txBody>
      </p:sp>
      <p:sp>
        <p:nvSpPr>
          <p:cNvPr id="396" name="Google Shape;396;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4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3" name="Google Shape;403;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4" name="Google Shape;404;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1" name="Google Shape;411;p4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8" name="Shape 18"/>
        <p:cNvGrpSpPr/>
        <p:nvPr/>
      </p:nvGrpSpPr>
      <p:grpSpPr>
        <a:xfrm>
          <a:off x="0" y="0"/>
          <a:ext cx="0" cy="0"/>
          <a:chOff x="0" y="0"/>
          <a:chExt cx="0" cy="0"/>
        </a:xfrm>
      </p:grpSpPr>
      <p:sp>
        <p:nvSpPr>
          <p:cNvPr id="19" name="Google Shape;19;p44"/>
          <p:cNvSpPr/>
          <p:nvPr/>
        </p:nvSpPr>
        <p:spPr>
          <a:xfrm>
            <a:off x="2382" y="6400800"/>
            <a:ext cx="9141619"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4"/>
          <p:cNvSpPr/>
          <p:nvPr/>
        </p:nvSpPr>
        <p:spPr>
          <a:xfrm>
            <a:off x="12" y="6334316"/>
            <a:ext cx="9141619"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4"/>
          <p:cNvSpPr txBox="1"/>
          <p:nvPr>
            <p:ph type="ctrTitle"/>
          </p:nvPr>
        </p:nvSpPr>
        <p:spPr>
          <a:xfrm>
            <a:off x="822960" y="758952"/>
            <a:ext cx="75438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Calibri"/>
              <a:buNone/>
              <a:defRPr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44"/>
          <p:cNvSpPr txBox="1"/>
          <p:nvPr>
            <p:ph idx="1" type="subTitle"/>
          </p:nvPr>
        </p:nvSpPr>
        <p:spPr>
          <a:xfrm>
            <a:off x="825038" y="4455621"/>
            <a:ext cx="7543800" cy="11430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p:txBody>
      </p:sp>
      <p:sp>
        <p:nvSpPr>
          <p:cNvPr id="23" name="Google Shape;23;p44"/>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44"/>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4"/>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26" name="Google Shape;26;p44"/>
          <p:cNvCxnSpPr/>
          <p:nvPr/>
        </p:nvCxnSpPr>
        <p:spPr>
          <a:xfrm>
            <a:off x="905744" y="4343400"/>
            <a:ext cx="740664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45"/>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5"/>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30" name="Google Shape;30;p45"/>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5"/>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5"/>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solidFill>
          <a:schemeClr val="lt1"/>
        </a:solidFill>
      </p:bgPr>
    </p:bg>
    <p:spTree>
      <p:nvGrpSpPr>
        <p:cNvPr id="33" name="Shape 33"/>
        <p:cNvGrpSpPr/>
        <p:nvPr/>
      </p:nvGrpSpPr>
      <p:grpSpPr>
        <a:xfrm>
          <a:off x="0" y="0"/>
          <a:ext cx="0" cy="0"/>
          <a:chOff x="0" y="0"/>
          <a:chExt cx="0" cy="0"/>
        </a:xfrm>
      </p:grpSpPr>
      <p:sp>
        <p:nvSpPr>
          <p:cNvPr id="34" name="Google Shape;34;p46"/>
          <p:cNvSpPr/>
          <p:nvPr/>
        </p:nvSpPr>
        <p:spPr>
          <a:xfrm>
            <a:off x="2382" y="6400800"/>
            <a:ext cx="9141619"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46"/>
          <p:cNvSpPr/>
          <p:nvPr/>
        </p:nvSpPr>
        <p:spPr>
          <a:xfrm>
            <a:off x="12" y="6334316"/>
            <a:ext cx="9141619"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46"/>
          <p:cNvSpPr txBox="1"/>
          <p:nvPr>
            <p:ph type="title"/>
          </p:nvPr>
        </p:nvSpPr>
        <p:spPr>
          <a:xfrm>
            <a:off x="822960" y="758952"/>
            <a:ext cx="75438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Calibri"/>
              <a:buNone/>
              <a:defRPr b="0"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46"/>
          <p:cNvSpPr txBox="1"/>
          <p:nvPr>
            <p:ph idx="1" type="body"/>
          </p:nvPr>
        </p:nvSpPr>
        <p:spPr>
          <a:xfrm>
            <a:off x="822960" y="4453128"/>
            <a:ext cx="7543800" cy="1143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indent="-228600" lvl="1" marL="914400" algn="l">
              <a:lnSpc>
                <a:spcPct val="90000"/>
              </a:lnSpc>
              <a:spcBef>
                <a:spcPts val="200"/>
              </a:spcBef>
              <a:spcAft>
                <a:spcPts val="0"/>
              </a:spcAft>
              <a:buSzPts val="1800"/>
              <a:buNone/>
              <a:defRPr sz="1800">
                <a:solidFill>
                  <a:srgbClr val="888888"/>
                </a:solidFill>
              </a:defRPr>
            </a:lvl2pPr>
            <a:lvl3pPr indent="-228600" lvl="2" marL="1371600" algn="l">
              <a:lnSpc>
                <a:spcPct val="90000"/>
              </a:lnSpc>
              <a:spcBef>
                <a:spcPts val="400"/>
              </a:spcBef>
              <a:spcAft>
                <a:spcPts val="0"/>
              </a:spcAft>
              <a:buSzPts val="1600"/>
              <a:buNone/>
              <a:defRPr sz="1600">
                <a:solidFill>
                  <a:srgbClr val="888888"/>
                </a:solidFill>
              </a:defRPr>
            </a:lvl3pPr>
            <a:lvl4pPr indent="-228600" lvl="3" marL="1828800" algn="l">
              <a:lnSpc>
                <a:spcPct val="90000"/>
              </a:lnSpc>
              <a:spcBef>
                <a:spcPts val="400"/>
              </a:spcBef>
              <a:spcAft>
                <a:spcPts val="0"/>
              </a:spcAft>
              <a:buSzPts val="1400"/>
              <a:buNone/>
              <a:defRPr sz="1400">
                <a:solidFill>
                  <a:srgbClr val="888888"/>
                </a:solidFill>
              </a:defRPr>
            </a:lvl4pPr>
            <a:lvl5pPr indent="-228600" lvl="4" marL="2286000" algn="l">
              <a:lnSpc>
                <a:spcPct val="9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38" name="Google Shape;38;p46"/>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46"/>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46"/>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41" name="Google Shape;41;p46"/>
          <p:cNvCxnSpPr/>
          <p:nvPr/>
        </p:nvCxnSpPr>
        <p:spPr>
          <a:xfrm>
            <a:off x="905744" y="4343400"/>
            <a:ext cx="740664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2" name="Shape 42"/>
        <p:cNvGrpSpPr/>
        <p:nvPr/>
      </p:nvGrpSpPr>
      <p:grpSpPr>
        <a:xfrm>
          <a:off x="0" y="0"/>
          <a:ext cx="0" cy="0"/>
          <a:chOff x="0" y="0"/>
          <a:chExt cx="0" cy="0"/>
        </a:xfrm>
      </p:grpSpPr>
      <p:sp>
        <p:nvSpPr>
          <p:cNvPr id="43" name="Google Shape;43;p47"/>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47"/>
          <p:cNvSpPr txBox="1"/>
          <p:nvPr>
            <p:ph idx="1" type="body"/>
          </p:nvPr>
        </p:nvSpPr>
        <p:spPr>
          <a:xfrm>
            <a:off x="822960" y="1845734"/>
            <a:ext cx="370332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5" name="Google Shape;45;p47"/>
          <p:cNvSpPr txBox="1"/>
          <p:nvPr>
            <p:ph idx="2" type="body"/>
          </p:nvPr>
        </p:nvSpPr>
        <p:spPr>
          <a:xfrm>
            <a:off x="4663440" y="1845736"/>
            <a:ext cx="3703320" cy="4023359"/>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6" name="Google Shape;46;p47"/>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47"/>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47"/>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9" name="Shape 49"/>
        <p:cNvGrpSpPr/>
        <p:nvPr/>
      </p:nvGrpSpPr>
      <p:grpSpPr>
        <a:xfrm>
          <a:off x="0" y="0"/>
          <a:ext cx="0" cy="0"/>
          <a:chOff x="0" y="0"/>
          <a:chExt cx="0" cy="0"/>
        </a:xfrm>
      </p:grpSpPr>
      <p:sp>
        <p:nvSpPr>
          <p:cNvPr id="50" name="Google Shape;50;p48"/>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48"/>
          <p:cNvSpPr txBox="1"/>
          <p:nvPr>
            <p:ph idx="1" type="body"/>
          </p:nvPr>
        </p:nvSpPr>
        <p:spPr>
          <a:xfrm>
            <a:off x="822960" y="1846052"/>
            <a:ext cx="370332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52" name="Google Shape;52;p48"/>
          <p:cNvSpPr txBox="1"/>
          <p:nvPr>
            <p:ph idx="2" type="body"/>
          </p:nvPr>
        </p:nvSpPr>
        <p:spPr>
          <a:xfrm>
            <a:off x="822960" y="2582334"/>
            <a:ext cx="3703320" cy="32867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3" name="Google Shape;53;p48"/>
          <p:cNvSpPr txBox="1"/>
          <p:nvPr>
            <p:ph idx="3" type="body"/>
          </p:nvPr>
        </p:nvSpPr>
        <p:spPr>
          <a:xfrm>
            <a:off x="4663440" y="1846052"/>
            <a:ext cx="370332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54" name="Google Shape;54;p48"/>
          <p:cNvSpPr txBox="1"/>
          <p:nvPr>
            <p:ph idx="4" type="body"/>
          </p:nvPr>
        </p:nvSpPr>
        <p:spPr>
          <a:xfrm>
            <a:off x="4663440" y="2582334"/>
            <a:ext cx="3703320" cy="32867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5" name="Google Shape;55;p48"/>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48"/>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48"/>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8" name="Shape 58"/>
        <p:cNvGrpSpPr/>
        <p:nvPr/>
      </p:nvGrpSpPr>
      <p:grpSpPr>
        <a:xfrm>
          <a:off x="0" y="0"/>
          <a:ext cx="0" cy="0"/>
          <a:chOff x="0" y="0"/>
          <a:chExt cx="0" cy="0"/>
        </a:xfrm>
      </p:grpSpPr>
      <p:sp>
        <p:nvSpPr>
          <p:cNvPr id="59" name="Google Shape;59;p49"/>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49"/>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49"/>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49"/>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63" name="Shape 63"/>
        <p:cNvGrpSpPr/>
        <p:nvPr/>
      </p:nvGrpSpPr>
      <p:grpSpPr>
        <a:xfrm>
          <a:off x="0" y="0"/>
          <a:ext cx="0" cy="0"/>
          <a:chOff x="0" y="0"/>
          <a:chExt cx="0" cy="0"/>
        </a:xfrm>
      </p:grpSpPr>
      <p:sp>
        <p:nvSpPr>
          <p:cNvPr id="64" name="Google Shape;64;p50"/>
          <p:cNvSpPr/>
          <p:nvPr/>
        </p:nvSpPr>
        <p:spPr>
          <a:xfrm>
            <a:off x="2382" y="6400800"/>
            <a:ext cx="9141619"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50"/>
          <p:cNvSpPr/>
          <p:nvPr/>
        </p:nvSpPr>
        <p:spPr>
          <a:xfrm>
            <a:off x="12" y="6334316"/>
            <a:ext cx="9141619"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50"/>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50"/>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50"/>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69" name="Shape 69"/>
        <p:cNvGrpSpPr/>
        <p:nvPr/>
      </p:nvGrpSpPr>
      <p:grpSpPr>
        <a:xfrm>
          <a:off x="0" y="0"/>
          <a:ext cx="0" cy="0"/>
          <a:chOff x="0" y="0"/>
          <a:chExt cx="0" cy="0"/>
        </a:xfrm>
      </p:grpSpPr>
      <p:sp>
        <p:nvSpPr>
          <p:cNvPr id="70" name="Google Shape;70;p51"/>
          <p:cNvSpPr/>
          <p:nvPr/>
        </p:nvSpPr>
        <p:spPr>
          <a:xfrm>
            <a:off x="13" y="0"/>
            <a:ext cx="3038093" cy="6858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51"/>
          <p:cNvSpPr/>
          <p:nvPr/>
        </p:nvSpPr>
        <p:spPr>
          <a:xfrm>
            <a:off x="3030053" y="0"/>
            <a:ext cx="48006"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51"/>
          <p:cNvSpPr txBox="1"/>
          <p:nvPr>
            <p:ph type="title"/>
          </p:nvPr>
        </p:nvSpPr>
        <p:spPr>
          <a:xfrm>
            <a:off x="342900" y="594359"/>
            <a:ext cx="2400300" cy="22860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51"/>
          <p:cNvSpPr txBox="1"/>
          <p:nvPr>
            <p:ph idx="1" type="body"/>
          </p:nvPr>
        </p:nvSpPr>
        <p:spPr>
          <a:xfrm>
            <a:off x="3460237" y="731520"/>
            <a:ext cx="5009393" cy="52578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74" name="Google Shape;74;p51"/>
          <p:cNvSpPr txBox="1"/>
          <p:nvPr>
            <p:ph idx="2" type="body"/>
          </p:nvPr>
        </p:nvSpPr>
        <p:spPr>
          <a:xfrm>
            <a:off x="342900" y="2926080"/>
            <a:ext cx="2400300" cy="337912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1500"/>
              <a:buNone/>
              <a:defRPr sz="1500">
                <a:solidFill>
                  <a:srgbClr val="FFFFFF"/>
                </a:solidFill>
              </a:defRPr>
            </a:lvl1pPr>
            <a:lvl2pPr indent="-228600" lvl="1" marL="914400" algn="l">
              <a:lnSpc>
                <a:spcPct val="90000"/>
              </a:lnSpc>
              <a:spcBef>
                <a:spcPts val="2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75" name="Google Shape;75;p51"/>
          <p:cNvSpPr txBox="1"/>
          <p:nvPr>
            <p:ph idx="10" type="dt"/>
          </p:nvPr>
        </p:nvSpPr>
        <p:spPr>
          <a:xfrm>
            <a:off x="349134" y="6459786"/>
            <a:ext cx="196388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51"/>
          <p:cNvSpPr txBox="1"/>
          <p:nvPr>
            <p:ph idx="11" type="ftr"/>
          </p:nvPr>
        </p:nvSpPr>
        <p:spPr>
          <a:xfrm>
            <a:off x="3600450" y="6459786"/>
            <a:ext cx="348615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51"/>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050">
                <a:solidFill>
                  <a:schemeClr val="dk2"/>
                </a:solidFill>
                <a:latin typeface="Calibri"/>
                <a:ea typeface="Calibri"/>
                <a:cs typeface="Calibri"/>
                <a:sym typeface="Calibri"/>
              </a:defRPr>
            </a:lvl1pPr>
            <a:lvl2pPr indent="0" lvl="1" marL="0" algn="r">
              <a:spcBef>
                <a:spcPts val="0"/>
              </a:spcBef>
              <a:buNone/>
              <a:defRPr sz="1050">
                <a:solidFill>
                  <a:schemeClr val="dk2"/>
                </a:solidFill>
                <a:latin typeface="Calibri"/>
                <a:ea typeface="Calibri"/>
                <a:cs typeface="Calibri"/>
                <a:sym typeface="Calibri"/>
              </a:defRPr>
            </a:lvl2pPr>
            <a:lvl3pPr indent="0" lvl="2" marL="0" algn="r">
              <a:spcBef>
                <a:spcPts val="0"/>
              </a:spcBef>
              <a:buNone/>
              <a:defRPr sz="1050">
                <a:solidFill>
                  <a:schemeClr val="dk2"/>
                </a:solidFill>
                <a:latin typeface="Calibri"/>
                <a:ea typeface="Calibri"/>
                <a:cs typeface="Calibri"/>
                <a:sym typeface="Calibri"/>
              </a:defRPr>
            </a:lvl3pPr>
            <a:lvl4pPr indent="0" lvl="3" marL="0" algn="r">
              <a:spcBef>
                <a:spcPts val="0"/>
              </a:spcBef>
              <a:buNone/>
              <a:defRPr sz="1050">
                <a:solidFill>
                  <a:schemeClr val="dk2"/>
                </a:solidFill>
                <a:latin typeface="Calibri"/>
                <a:ea typeface="Calibri"/>
                <a:cs typeface="Calibri"/>
                <a:sym typeface="Calibri"/>
              </a:defRPr>
            </a:lvl4pPr>
            <a:lvl5pPr indent="0" lvl="4" marL="0" algn="r">
              <a:spcBef>
                <a:spcPts val="0"/>
              </a:spcBef>
              <a:buNone/>
              <a:defRPr sz="1050">
                <a:solidFill>
                  <a:schemeClr val="dk2"/>
                </a:solidFill>
                <a:latin typeface="Calibri"/>
                <a:ea typeface="Calibri"/>
                <a:cs typeface="Calibri"/>
                <a:sym typeface="Calibri"/>
              </a:defRPr>
            </a:lvl5pPr>
            <a:lvl6pPr indent="0" lvl="5" marL="0" algn="r">
              <a:spcBef>
                <a:spcPts val="0"/>
              </a:spcBef>
              <a:buNone/>
              <a:defRPr sz="1050">
                <a:solidFill>
                  <a:schemeClr val="dk2"/>
                </a:solidFill>
                <a:latin typeface="Calibri"/>
                <a:ea typeface="Calibri"/>
                <a:cs typeface="Calibri"/>
                <a:sym typeface="Calibri"/>
              </a:defRPr>
            </a:lvl6pPr>
            <a:lvl7pPr indent="0" lvl="6" marL="0" algn="r">
              <a:spcBef>
                <a:spcPts val="0"/>
              </a:spcBef>
              <a:buNone/>
              <a:defRPr sz="1050">
                <a:solidFill>
                  <a:schemeClr val="dk2"/>
                </a:solidFill>
                <a:latin typeface="Calibri"/>
                <a:ea typeface="Calibri"/>
                <a:cs typeface="Calibri"/>
                <a:sym typeface="Calibri"/>
              </a:defRPr>
            </a:lvl7pPr>
            <a:lvl8pPr indent="0" lvl="7" marL="0" algn="r">
              <a:spcBef>
                <a:spcPts val="0"/>
              </a:spcBef>
              <a:buNone/>
              <a:defRPr sz="1050">
                <a:solidFill>
                  <a:schemeClr val="dk2"/>
                </a:solidFill>
                <a:latin typeface="Calibri"/>
                <a:ea typeface="Calibri"/>
                <a:cs typeface="Calibri"/>
                <a:sym typeface="Calibri"/>
              </a:defRPr>
            </a:lvl8pPr>
            <a:lvl9pPr indent="0" lvl="8" marL="0" algn="r">
              <a:spcBef>
                <a:spcPts val="0"/>
              </a:spcBef>
              <a:buNone/>
              <a:defRPr sz="1050">
                <a:solidFill>
                  <a:schemeClr val="dk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78" name="Shape 78"/>
        <p:cNvGrpSpPr/>
        <p:nvPr/>
      </p:nvGrpSpPr>
      <p:grpSpPr>
        <a:xfrm>
          <a:off x="0" y="0"/>
          <a:ext cx="0" cy="0"/>
          <a:chOff x="0" y="0"/>
          <a:chExt cx="0" cy="0"/>
        </a:xfrm>
      </p:grpSpPr>
      <p:sp>
        <p:nvSpPr>
          <p:cNvPr id="79" name="Google Shape;79;p52"/>
          <p:cNvSpPr/>
          <p:nvPr/>
        </p:nvSpPr>
        <p:spPr>
          <a:xfrm>
            <a:off x="0" y="4953000"/>
            <a:ext cx="9141619" cy="1905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52"/>
          <p:cNvSpPr/>
          <p:nvPr/>
        </p:nvSpPr>
        <p:spPr>
          <a:xfrm>
            <a:off x="12" y="4915076"/>
            <a:ext cx="9141619"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52"/>
          <p:cNvSpPr txBox="1"/>
          <p:nvPr>
            <p:ph type="title"/>
          </p:nvPr>
        </p:nvSpPr>
        <p:spPr>
          <a:xfrm>
            <a:off x="822960" y="5074920"/>
            <a:ext cx="7589520" cy="822960"/>
          </a:xfrm>
          <a:prstGeom prst="rect">
            <a:avLst/>
          </a:prstGeom>
          <a:noFill/>
          <a:ln>
            <a:noFill/>
          </a:ln>
        </p:spPr>
        <p:txBody>
          <a:bodyPr anchorCtr="0" anchor="b" bIns="0" lIns="91425" spcFirstLastPara="1" rIns="91425" wrap="square" tIns="0">
            <a:no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82" name="Google Shape;82;p52"/>
          <p:cNvPicPr preferRelativeResize="0"/>
          <p:nvPr>
            <p:ph idx="2" type="pic"/>
          </p:nvPr>
        </p:nvPicPr>
        <p:blipFill/>
        <p:spPr>
          <a:xfrm>
            <a:off x="12" y="0"/>
            <a:ext cx="9143989" cy="4915076"/>
          </a:xfrm>
          <a:prstGeom prst="rect">
            <a:avLst/>
          </a:prstGeom>
          <a:blipFill rotWithShape="1">
            <a:blip r:embed="rId2">
              <a:alphaModFix/>
            </a:blip>
            <a:stretch>
              <a:fillRect b="0" l="0" r="0" t="0"/>
            </a:stretch>
          </a:blipFill>
          <a:ln>
            <a:noFill/>
          </a:ln>
        </p:spPr>
      </p:pic>
      <p:sp>
        <p:nvSpPr>
          <p:cNvPr id="83" name="Google Shape;83;p52"/>
          <p:cNvSpPr txBox="1"/>
          <p:nvPr>
            <p:ph idx="1" type="body"/>
          </p:nvPr>
        </p:nvSpPr>
        <p:spPr>
          <a:xfrm>
            <a:off x="822959" y="5907024"/>
            <a:ext cx="7589520" cy="594360"/>
          </a:xfrm>
          <a:prstGeom prst="rect">
            <a:avLst/>
          </a:prstGeom>
          <a:noFill/>
          <a:ln>
            <a:noFill/>
          </a:ln>
        </p:spPr>
        <p:txBody>
          <a:bodyPr anchorCtr="0" anchor="t" bIns="0" lIns="91425" spcFirstLastPara="1" rIns="91425" wrap="square" tIns="0">
            <a:normAutofit/>
          </a:bodyPr>
          <a:lstStyle>
            <a:lvl1pPr indent="-228600" lvl="0" marL="457200" algn="l">
              <a:lnSpc>
                <a:spcPct val="90000"/>
              </a:lnSpc>
              <a:spcBef>
                <a:spcPts val="0"/>
              </a:spcBef>
              <a:spcAft>
                <a:spcPts val="0"/>
              </a:spcAft>
              <a:buSzPts val="1500"/>
              <a:buNone/>
              <a:defRPr sz="1500">
                <a:solidFill>
                  <a:srgbClr val="FFFFFF"/>
                </a:solidFill>
              </a:defRPr>
            </a:lvl1pPr>
            <a:lvl2pPr indent="-228600" lvl="1" marL="914400" algn="l">
              <a:lnSpc>
                <a:spcPct val="90000"/>
              </a:lnSpc>
              <a:spcBef>
                <a:spcPts val="6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84" name="Google Shape;84;p52"/>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52"/>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52"/>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7" name="Shape 87"/>
        <p:cNvGrpSpPr/>
        <p:nvPr/>
      </p:nvGrpSpPr>
      <p:grpSpPr>
        <a:xfrm>
          <a:off x="0" y="0"/>
          <a:ext cx="0" cy="0"/>
          <a:chOff x="0" y="0"/>
          <a:chExt cx="0" cy="0"/>
        </a:xfrm>
      </p:grpSpPr>
      <p:sp>
        <p:nvSpPr>
          <p:cNvPr id="88" name="Google Shape;88;p53"/>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9" name="Google Shape;89;p53"/>
          <p:cNvSpPr txBox="1"/>
          <p:nvPr>
            <p:ph idx="1" type="body"/>
          </p:nvPr>
        </p:nvSpPr>
        <p:spPr>
          <a:xfrm rot="5400000">
            <a:off x="2583179" y="85514"/>
            <a:ext cx="4023360" cy="7543801"/>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0" name="Google Shape;90;p53"/>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53"/>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53"/>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93" name="Shape 93"/>
        <p:cNvGrpSpPr/>
        <p:nvPr/>
      </p:nvGrpSpPr>
      <p:grpSpPr>
        <a:xfrm>
          <a:off x="0" y="0"/>
          <a:ext cx="0" cy="0"/>
          <a:chOff x="0" y="0"/>
          <a:chExt cx="0" cy="0"/>
        </a:xfrm>
      </p:grpSpPr>
      <p:sp>
        <p:nvSpPr>
          <p:cNvPr id="94" name="Google Shape;94;p54"/>
          <p:cNvSpPr/>
          <p:nvPr/>
        </p:nvSpPr>
        <p:spPr>
          <a:xfrm>
            <a:off x="2382" y="6400800"/>
            <a:ext cx="9141619"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54"/>
          <p:cNvSpPr/>
          <p:nvPr/>
        </p:nvSpPr>
        <p:spPr>
          <a:xfrm>
            <a:off x="12" y="6334316"/>
            <a:ext cx="9141619"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54"/>
          <p:cNvSpPr txBox="1"/>
          <p:nvPr>
            <p:ph type="title"/>
          </p:nvPr>
        </p:nvSpPr>
        <p:spPr>
          <a:xfrm rot="5400000">
            <a:off x="4650802" y="2307652"/>
            <a:ext cx="5757421" cy="1971675"/>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54"/>
          <p:cNvSpPr txBox="1"/>
          <p:nvPr>
            <p:ph idx="1" type="body"/>
          </p:nvPr>
        </p:nvSpPr>
        <p:spPr>
          <a:xfrm rot="5400000">
            <a:off x="650303" y="393126"/>
            <a:ext cx="5757420" cy="5800725"/>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8" name="Google Shape;98;p54"/>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54"/>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54"/>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3"/>
          <p:cNvSpPr/>
          <p:nvPr/>
        </p:nvSpPr>
        <p:spPr>
          <a:xfrm>
            <a:off x="0" y="6400800"/>
            <a:ext cx="9144001"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43"/>
          <p:cNvSpPr/>
          <p:nvPr/>
        </p:nvSpPr>
        <p:spPr>
          <a:xfrm>
            <a:off x="0" y="6334315"/>
            <a:ext cx="9144001" cy="65999"/>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43"/>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lvl1pPr lvl="0" marR="0" rtl="0" algn="l">
              <a:lnSpc>
                <a:spcPct val="85000"/>
              </a:lnSpc>
              <a:spcBef>
                <a:spcPts val="0"/>
              </a:spcBef>
              <a:spcAft>
                <a:spcPts val="0"/>
              </a:spcAft>
              <a:buClr>
                <a:srgbClr val="3F3F3F"/>
              </a:buClr>
              <a:buSzPts val="4800"/>
              <a:buFont typeface="Calibri"/>
              <a:buNone/>
              <a:defRPr b="0" i="0" sz="4800" u="none" cap="none" strike="noStrike">
                <a:solidFill>
                  <a:srgbClr val="3F3F3F"/>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43"/>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rmAutofit/>
          </a:bodyPr>
          <a:lstStyle>
            <a:lvl1pPr indent="-355600" lvl="0" marL="457200" marR="0" rtl="0" algn="l">
              <a:lnSpc>
                <a:spcPct val="90000"/>
              </a:lnSpc>
              <a:spcBef>
                <a:spcPts val="1200"/>
              </a:spcBef>
              <a:spcAft>
                <a:spcPts val="0"/>
              </a:spcAft>
              <a:buClr>
                <a:schemeClr val="accent1"/>
              </a:buClr>
              <a:buSzPts val="2000"/>
              <a:buFont typeface="Calibri"/>
              <a:buChar char=" "/>
              <a:defRPr b="0" i="0" sz="2000" u="none" cap="none" strike="noStrike">
                <a:solidFill>
                  <a:srgbClr val="3F3F3F"/>
                </a:solidFill>
                <a:latin typeface="Calibri"/>
                <a:ea typeface="Calibri"/>
                <a:cs typeface="Calibri"/>
                <a:sym typeface="Calibri"/>
              </a:defRPr>
            </a:lvl1pPr>
            <a:lvl2pPr indent="-342900" lvl="1" marL="914400" marR="0" rtl="0" algn="l">
              <a:lnSpc>
                <a:spcPct val="90000"/>
              </a:lnSpc>
              <a:spcBef>
                <a:spcPts val="200"/>
              </a:spcBef>
              <a:spcAft>
                <a:spcPts val="0"/>
              </a:spcAft>
              <a:buClr>
                <a:schemeClr val="accent1"/>
              </a:buClr>
              <a:buSzPts val="1800"/>
              <a:buFont typeface="Calibri"/>
              <a:buChar char="◦"/>
              <a:defRPr b="0" i="0" sz="1800" u="none" cap="none" strike="noStrike">
                <a:solidFill>
                  <a:srgbClr val="3F3F3F"/>
                </a:solidFill>
                <a:latin typeface="Calibri"/>
                <a:ea typeface="Calibri"/>
                <a:cs typeface="Calibri"/>
                <a:sym typeface="Calibri"/>
              </a:defRPr>
            </a:lvl2pPr>
            <a:lvl3pPr indent="-317500" lvl="2" marL="1371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9pPr>
          </a:lstStyle>
          <a:p/>
        </p:txBody>
      </p:sp>
      <p:sp>
        <p:nvSpPr>
          <p:cNvPr id="14" name="Google Shape;14;p43"/>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FFFFF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 name="Google Shape;15;p43"/>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00" u="none" cap="none" strike="noStrike">
                <a:solidFill>
                  <a:srgbClr val="FFFFF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 name="Google Shape;16;p43"/>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50" u="none" cap="none" strike="noStrike">
                <a:solidFill>
                  <a:srgbClr val="FFFFFF"/>
                </a:solidFill>
                <a:latin typeface="Calibri"/>
                <a:ea typeface="Calibri"/>
                <a:cs typeface="Calibri"/>
                <a:sym typeface="Calibri"/>
              </a:defRPr>
            </a:lvl1pPr>
            <a:lvl2pPr indent="0" lvl="1" marL="0" marR="0" rtl="0" algn="r">
              <a:spcBef>
                <a:spcPts val="0"/>
              </a:spcBef>
              <a:buNone/>
              <a:defRPr b="0" i="0" sz="1050" u="none" cap="none" strike="noStrike">
                <a:solidFill>
                  <a:srgbClr val="FFFFFF"/>
                </a:solidFill>
                <a:latin typeface="Calibri"/>
                <a:ea typeface="Calibri"/>
                <a:cs typeface="Calibri"/>
                <a:sym typeface="Calibri"/>
              </a:defRPr>
            </a:lvl2pPr>
            <a:lvl3pPr indent="0" lvl="2" marL="0" marR="0" rtl="0" algn="r">
              <a:spcBef>
                <a:spcPts val="0"/>
              </a:spcBef>
              <a:buNone/>
              <a:defRPr b="0" i="0" sz="1050" u="none" cap="none" strike="noStrike">
                <a:solidFill>
                  <a:srgbClr val="FFFFFF"/>
                </a:solidFill>
                <a:latin typeface="Calibri"/>
                <a:ea typeface="Calibri"/>
                <a:cs typeface="Calibri"/>
                <a:sym typeface="Calibri"/>
              </a:defRPr>
            </a:lvl3pPr>
            <a:lvl4pPr indent="0" lvl="3" marL="0" marR="0" rtl="0" algn="r">
              <a:spcBef>
                <a:spcPts val="0"/>
              </a:spcBef>
              <a:buNone/>
              <a:defRPr b="0" i="0" sz="1050" u="none" cap="none" strike="noStrike">
                <a:solidFill>
                  <a:srgbClr val="FFFFFF"/>
                </a:solidFill>
                <a:latin typeface="Calibri"/>
                <a:ea typeface="Calibri"/>
                <a:cs typeface="Calibri"/>
                <a:sym typeface="Calibri"/>
              </a:defRPr>
            </a:lvl4pPr>
            <a:lvl5pPr indent="0" lvl="4" marL="0" marR="0" rtl="0" algn="r">
              <a:spcBef>
                <a:spcPts val="0"/>
              </a:spcBef>
              <a:buNone/>
              <a:defRPr b="0" i="0" sz="1050" u="none" cap="none" strike="noStrike">
                <a:solidFill>
                  <a:srgbClr val="FFFFFF"/>
                </a:solidFill>
                <a:latin typeface="Calibri"/>
                <a:ea typeface="Calibri"/>
                <a:cs typeface="Calibri"/>
                <a:sym typeface="Calibri"/>
              </a:defRPr>
            </a:lvl5pPr>
            <a:lvl6pPr indent="0" lvl="5" marL="0" marR="0" rtl="0" algn="r">
              <a:spcBef>
                <a:spcPts val="0"/>
              </a:spcBef>
              <a:buNone/>
              <a:defRPr b="0" i="0" sz="1050" u="none" cap="none" strike="noStrike">
                <a:solidFill>
                  <a:srgbClr val="FFFFFF"/>
                </a:solidFill>
                <a:latin typeface="Calibri"/>
                <a:ea typeface="Calibri"/>
                <a:cs typeface="Calibri"/>
                <a:sym typeface="Calibri"/>
              </a:defRPr>
            </a:lvl6pPr>
            <a:lvl7pPr indent="0" lvl="6" marL="0" marR="0" rtl="0" algn="r">
              <a:spcBef>
                <a:spcPts val="0"/>
              </a:spcBef>
              <a:buNone/>
              <a:defRPr b="0" i="0" sz="1050" u="none" cap="none" strike="noStrike">
                <a:solidFill>
                  <a:srgbClr val="FFFFFF"/>
                </a:solidFill>
                <a:latin typeface="Calibri"/>
                <a:ea typeface="Calibri"/>
                <a:cs typeface="Calibri"/>
                <a:sym typeface="Calibri"/>
              </a:defRPr>
            </a:lvl7pPr>
            <a:lvl8pPr indent="0" lvl="7" marL="0" marR="0" rtl="0" algn="r">
              <a:spcBef>
                <a:spcPts val="0"/>
              </a:spcBef>
              <a:buNone/>
              <a:defRPr b="0" i="0" sz="1050" u="none" cap="none" strike="noStrike">
                <a:solidFill>
                  <a:srgbClr val="FFFFFF"/>
                </a:solidFill>
                <a:latin typeface="Calibri"/>
                <a:ea typeface="Calibri"/>
                <a:cs typeface="Calibri"/>
                <a:sym typeface="Calibri"/>
              </a:defRPr>
            </a:lvl8pPr>
            <a:lvl9pPr indent="0" lvl="8" marL="0" marR="0" rtl="0" algn="r">
              <a:spcBef>
                <a:spcPts val="0"/>
              </a:spcBef>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17" name="Google Shape;17;p43"/>
          <p:cNvCxnSpPr/>
          <p:nvPr/>
        </p:nvCxnSpPr>
        <p:spPr>
          <a:xfrm>
            <a:off x="895149" y="1737845"/>
            <a:ext cx="7475220" cy="0"/>
          </a:xfrm>
          <a:prstGeom prst="straightConnector1">
            <a:avLst/>
          </a:prstGeom>
          <a:noFill/>
          <a:ln cap="flat" cmpd="sng" w="9525">
            <a:solidFill>
              <a:srgbClr val="7F7F7F"/>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5.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jpg"/><Relationship Id="rId4" Type="http://schemas.openxmlformats.org/officeDocument/2006/relationships/image" Target="../media/image6.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5.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0.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8.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
          <p:cNvSpPr txBox="1"/>
          <p:nvPr>
            <p:ph type="ctrTitle"/>
          </p:nvPr>
        </p:nvSpPr>
        <p:spPr>
          <a:xfrm>
            <a:off x="633075" y="1666500"/>
            <a:ext cx="7543800" cy="1762500"/>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262626"/>
              </a:buClr>
              <a:buSzPts val="4050"/>
              <a:buFont typeface="Calibri"/>
              <a:buNone/>
            </a:pPr>
            <a:r>
              <a:rPr lang="en-US" sz="4050"/>
              <a:t>Database Management Systems</a:t>
            </a:r>
            <a:br>
              <a:rPr lang="en-US" sz="4050"/>
            </a:br>
            <a:r>
              <a:rPr lang="en-US" sz="4050"/>
              <a:t>Lab1 – Introduction to C#</a:t>
            </a:r>
            <a:endParaRPr/>
          </a:p>
        </p:txBody>
      </p:sp>
      <p:sp>
        <p:nvSpPr>
          <p:cNvPr id="106" name="Google Shape;106;p1"/>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107" name="Google Shape;107;p1"/>
          <p:cNvGraphicFramePr/>
          <p:nvPr/>
        </p:nvGraphicFramePr>
        <p:xfrm>
          <a:off x="2591925" y="3"/>
          <a:ext cx="3000000" cy="3000000"/>
        </p:xfrm>
        <a:graphic>
          <a:graphicData uri="http://schemas.openxmlformats.org/drawingml/2006/table">
            <a:tbl>
              <a:tblPr>
                <a:noFill/>
                <a:tableStyleId>{20AA03B4-8A47-4CB4-A600-BE6B973EB492}</a:tableStyleId>
              </a:tblPr>
              <a:tblGrid>
                <a:gridCol w="4267200"/>
              </a:tblGrid>
              <a:tr h="801875">
                <a:tc>
                  <a:txBody>
                    <a:bodyPr/>
                    <a:lstStyle/>
                    <a:p>
                      <a:pPr indent="0" lvl="0" marL="0" marR="0" rtl="0" algn="l">
                        <a:spcBef>
                          <a:spcPts val="0"/>
                        </a:spcBef>
                        <a:spcAft>
                          <a:spcPts val="0"/>
                        </a:spcAft>
                        <a:buNone/>
                      </a:pPr>
                      <a:r>
                        <a:rPr lang="en-US" sz="1800" u="none" cap="none" strike="noStrike"/>
                        <a:t>Cairo University</a:t>
                      </a:r>
                      <a:endParaRPr sz="3200" u="none" cap="none" strike="noStrike"/>
                    </a:p>
                    <a:p>
                      <a:pPr indent="0" lvl="0" marL="0" marR="0" rtl="0" algn="l">
                        <a:spcBef>
                          <a:spcPts val="0"/>
                        </a:spcBef>
                        <a:spcAft>
                          <a:spcPts val="0"/>
                        </a:spcAft>
                        <a:buNone/>
                      </a:pPr>
                      <a:r>
                        <a:rPr lang="en-US" sz="1800" u="none" cap="none" strike="noStrike"/>
                        <a:t>Faculty of Engineering</a:t>
                      </a:r>
                      <a:endParaRPr sz="3200" u="none" cap="none" strike="noStrike"/>
                    </a:p>
                    <a:p>
                      <a:pPr indent="0" lvl="0" marL="0" marR="0" rtl="0" algn="l">
                        <a:spcBef>
                          <a:spcPts val="0"/>
                        </a:spcBef>
                        <a:spcAft>
                          <a:spcPts val="0"/>
                        </a:spcAft>
                        <a:buNone/>
                      </a:pPr>
                      <a:r>
                        <a:rPr lang="en-US" sz="1800" u="none" cap="none" strike="noStrike"/>
                        <a:t>Computer Engineering Department</a:t>
                      </a:r>
                      <a:endParaRPr sz="3200" u="none" cap="none" strike="noStrike">
                        <a:latin typeface="Arial"/>
                        <a:ea typeface="Arial"/>
                        <a:cs typeface="Arial"/>
                        <a:sym typeface="Arial"/>
                      </a:endParaRPr>
                    </a:p>
                  </a:txBody>
                  <a:tcPr marT="0" marB="0" marR="38575" marL="38575"/>
                </a:tc>
              </a:tr>
              <a:tr h="434650">
                <a:tc>
                  <a:txBody>
                    <a:bodyPr/>
                    <a:lstStyle/>
                    <a:p>
                      <a:pPr indent="228600" lvl="0" marL="0" marR="0" rtl="0" algn="l">
                        <a:spcBef>
                          <a:spcPts val="0"/>
                        </a:spcBef>
                        <a:spcAft>
                          <a:spcPts val="0"/>
                        </a:spcAft>
                        <a:buNone/>
                      </a:pPr>
                      <a:r>
                        <a:rPr lang="en-US" sz="1400" u="none" cap="none" strike="noStrike"/>
                        <a:t> </a:t>
                      </a:r>
                      <a:endParaRPr sz="1400" u="none" cap="none" strike="noStrike">
                        <a:latin typeface="Arial"/>
                        <a:ea typeface="Arial"/>
                        <a:cs typeface="Arial"/>
                        <a:sym typeface="Arial"/>
                      </a:endParaRPr>
                    </a:p>
                  </a:txBody>
                  <a:tcPr marT="0" marB="0" marR="38575" marL="38575"/>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Agenda</a:t>
            </a:r>
            <a:endParaRPr/>
          </a:p>
        </p:txBody>
      </p:sp>
      <p:sp>
        <p:nvSpPr>
          <p:cNvPr id="113" name="Google Shape;113;p2"/>
          <p:cNvSpPr txBox="1"/>
          <p:nvPr>
            <p:ph idx="1" type="body"/>
          </p:nvPr>
        </p:nvSpPr>
        <p:spPr>
          <a:xfrm>
            <a:off x="822960" y="1981199"/>
            <a:ext cx="7940039" cy="4343401"/>
          </a:xfrm>
          <a:prstGeom prst="rect">
            <a:avLst/>
          </a:prstGeom>
          <a:noFill/>
          <a:ln>
            <a:noFill/>
          </a:ln>
        </p:spPr>
        <p:txBody>
          <a:bodyPr anchorCtr="0" anchor="t" bIns="45700" lIns="0" spcFirstLastPara="1" rIns="0" wrap="square" tIns="45700">
            <a:normAutofit fontScale="92500" lnSpcReduction="20000"/>
          </a:bodyPr>
          <a:lstStyle/>
          <a:p>
            <a:pPr indent="-140970" lvl="0" marL="91440" rtl="0" algn="l">
              <a:lnSpc>
                <a:spcPct val="90000"/>
              </a:lnSpc>
              <a:spcBef>
                <a:spcPts val="0"/>
              </a:spcBef>
              <a:spcAft>
                <a:spcPts val="0"/>
              </a:spcAft>
              <a:buSzPct val="100000"/>
              <a:buFont typeface="Noto Sans Symbols"/>
              <a:buChar char="▪"/>
            </a:pPr>
            <a:r>
              <a:rPr lang="en-US" sz="2400"/>
              <a:t>Introduction (.Net Framework)</a:t>
            </a:r>
            <a:endParaRPr/>
          </a:p>
          <a:p>
            <a:pPr indent="-140970" lvl="0" marL="91440" rtl="0" algn="l">
              <a:lnSpc>
                <a:spcPct val="90000"/>
              </a:lnSpc>
              <a:spcBef>
                <a:spcPts val="1400"/>
              </a:spcBef>
              <a:spcAft>
                <a:spcPts val="0"/>
              </a:spcAft>
              <a:buSzPct val="100000"/>
              <a:buFont typeface="Noto Sans Symbols"/>
              <a:buChar char="▪"/>
            </a:pPr>
            <a:r>
              <a:rPr lang="en-US" sz="2400"/>
              <a:t>C# Overview</a:t>
            </a:r>
            <a:endParaRPr/>
          </a:p>
          <a:p>
            <a:pPr indent="-140970" lvl="0" marL="91440" rtl="0" algn="l">
              <a:lnSpc>
                <a:spcPct val="90000"/>
              </a:lnSpc>
              <a:spcBef>
                <a:spcPts val="1400"/>
              </a:spcBef>
              <a:spcAft>
                <a:spcPts val="0"/>
              </a:spcAft>
              <a:buSzPct val="100000"/>
              <a:buFont typeface="Noto Sans Symbols"/>
              <a:buChar char="▪"/>
            </a:pPr>
            <a:r>
              <a:rPr lang="en-US" sz="2400"/>
              <a:t>Data Types</a:t>
            </a:r>
            <a:endParaRPr/>
          </a:p>
          <a:p>
            <a:pPr indent="-140970" lvl="0" marL="91440" rtl="0" algn="l">
              <a:lnSpc>
                <a:spcPct val="90000"/>
              </a:lnSpc>
              <a:spcBef>
                <a:spcPts val="1400"/>
              </a:spcBef>
              <a:spcAft>
                <a:spcPts val="0"/>
              </a:spcAft>
              <a:buSzPct val="100000"/>
              <a:buFont typeface="Noto Sans Symbols"/>
              <a:buChar char="▪"/>
            </a:pPr>
            <a:r>
              <a:rPr lang="en-US" sz="2400"/>
              <a:t>Arrays</a:t>
            </a:r>
            <a:endParaRPr/>
          </a:p>
          <a:p>
            <a:pPr indent="-140970" lvl="0" marL="91440" rtl="0" algn="l">
              <a:lnSpc>
                <a:spcPct val="90000"/>
              </a:lnSpc>
              <a:spcBef>
                <a:spcPts val="1400"/>
              </a:spcBef>
              <a:spcAft>
                <a:spcPts val="0"/>
              </a:spcAft>
              <a:buSzPct val="100000"/>
              <a:buFont typeface="Noto Sans Symbols"/>
              <a:buChar char="▪"/>
            </a:pPr>
            <a:r>
              <a:rPr lang="en-US" sz="2400"/>
              <a:t>Structs</a:t>
            </a:r>
            <a:endParaRPr/>
          </a:p>
          <a:p>
            <a:pPr indent="-140970" lvl="0" marL="91440" rtl="0" algn="l">
              <a:lnSpc>
                <a:spcPct val="90000"/>
              </a:lnSpc>
              <a:spcBef>
                <a:spcPts val="1400"/>
              </a:spcBef>
              <a:spcAft>
                <a:spcPts val="0"/>
              </a:spcAft>
              <a:buSzPct val="100000"/>
              <a:buFont typeface="Noto Sans Symbols"/>
              <a:buChar char="▪"/>
            </a:pPr>
            <a:r>
              <a:rPr lang="en-US" sz="2400"/>
              <a:t>Classes</a:t>
            </a:r>
            <a:endParaRPr/>
          </a:p>
          <a:p>
            <a:pPr indent="-140970" lvl="0" marL="91440" rtl="0" algn="l">
              <a:lnSpc>
                <a:spcPct val="90000"/>
              </a:lnSpc>
              <a:spcBef>
                <a:spcPts val="1400"/>
              </a:spcBef>
              <a:spcAft>
                <a:spcPts val="0"/>
              </a:spcAft>
              <a:buSzPct val="100000"/>
              <a:buFont typeface="Noto Sans Symbols"/>
              <a:buChar char="▪"/>
            </a:pPr>
            <a:r>
              <a:rPr lang="en-US" sz="2400"/>
              <a:t>Interfaces</a:t>
            </a:r>
            <a:endParaRPr/>
          </a:p>
          <a:p>
            <a:pPr indent="-140970" lvl="0" marL="91440" rtl="0" algn="l">
              <a:lnSpc>
                <a:spcPct val="90000"/>
              </a:lnSpc>
              <a:spcBef>
                <a:spcPts val="1400"/>
              </a:spcBef>
              <a:spcAft>
                <a:spcPts val="0"/>
              </a:spcAft>
              <a:buSzPct val="100000"/>
              <a:buFont typeface="Noto Sans Symbols"/>
              <a:buChar char="▪"/>
            </a:pPr>
            <a:r>
              <a:rPr lang="en-US" sz="2400"/>
              <a:t>Looping &amp; Conditional Statements</a:t>
            </a:r>
            <a:endParaRPr/>
          </a:p>
          <a:p>
            <a:pPr indent="-140970" lvl="0" marL="91440" rtl="0" algn="l">
              <a:lnSpc>
                <a:spcPct val="90000"/>
              </a:lnSpc>
              <a:spcBef>
                <a:spcPts val="1400"/>
              </a:spcBef>
              <a:spcAft>
                <a:spcPts val="0"/>
              </a:spcAft>
              <a:buSzPct val="100000"/>
              <a:buFont typeface="Noto Sans Symbols"/>
              <a:buChar char="▪"/>
            </a:pPr>
            <a:r>
              <a:rPr lang="en-US" sz="2400"/>
              <a:t>Console I/O</a:t>
            </a:r>
            <a:endParaRPr/>
          </a:p>
          <a:p>
            <a:pPr indent="-140970" lvl="0" marL="91440" rtl="0" algn="l">
              <a:lnSpc>
                <a:spcPct val="90000"/>
              </a:lnSpc>
              <a:spcBef>
                <a:spcPts val="1400"/>
              </a:spcBef>
              <a:spcAft>
                <a:spcPts val="0"/>
              </a:spcAft>
              <a:buSzPct val="100000"/>
              <a:buFont typeface="Noto Sans Symbols"/>
              <a:buChar char="▪"/>
            </a:pPr>
            <a:r>
              <a:rPr lang="en-US" sz="2400"/>
              <a:t>GUI (Event-based) Programming</a:t>
            </a:r>
            <a:endParaRPr/>
          </a:p>
          <a:p>
            <a:pPr indent="0" lvl="0" marL="91440" rtl="0" algn="l">
              <a:lnSpc>
                <a:spcPct val="90000"/>
              </a:lnSpc>
              <a:spcBef>
                <a:spcPts val="1400"/>
              </a:spcBef>
              <a:spcAft>
                <a:spcPts val="0"/>
              </a:spcAft>
              <a:buSzPct val="100000"/>
              <a:buFont typeface="Noto Sans Symbols"/>
              <a:buNone/>
            </a:pPr>
            <a:r>
              <a:t/>
            </a:r>
            <a:endParaRPr sz="2400"/>
          </a:p>
        </p:txBody>
      </p:sp>
      <p:sp>
        <p:nvSpPr>
          <p:cNvPr id="114" name="Google Shape;114;p2"/>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3"/>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Introduction (.Net Framework)</a:t>
            </a:r>
            <a:endParaRPr/>
          </a:p>
        </p:txBody>
      </p:sp>
      <p:sp>
        <p:nvSpPr>
          <p:cNvPr id="121" name="Google Shape;121;p3"/>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rmAutofit lnSpcReduction="10000"/>
          </a:bodyPr>
          <a:lstStyle/>
          <a:p>
            <a:pPr indent="-254000" lvl="0" marL="91440" rtl="0" algn="l">
              <a:lnSpc>
                <a:spcPct val="90000"/>
              </a:lnSpc>
              <a:spcBef>
                <a:spcPts val="0"/>
              </a:spcBef>
              <a:spcAft>
                <a:spcPts val="0"/>
              </a:spcAft>
              <a:buSzPts val="4000"/>
              <a:buFont typeface="Noto Sans Symbols"/>
              <a:buChar char="▪"/>
            </a:pPr>
            <a:r>
              <a:rPr lang="en-US" sz="4000"/>
              <a:t>What is a framework?</a:t>
            </a:r>
            <a:endParaRPr/>
          </a:p>
          <a:p>
            <a:pPr indent="-182880" lvl="1" marL="384048" rtl="0" algn="l">
              <a:lnSpc>
                <a:spcPct val="90000"/>
              </a:lnSpc>
              <a:spcBef>
                <a:spcPts val="400"/>
              </a:spcBef>
              <a:spcAft>
                <a:spcPts val="0"/>
              </a:spcAft>
              <a:buSzPts val="2800"/>
              <a:buFont typeface="Noto Sans Symbols"/>
              <a:buChar char="⮚"/>
            </a:pPr>
            <a:r>
              <a:rPr lang="en-US" sz="2800"/>
              <a:t>A framework generally provides some base functionality which you can use and extend. </a:t>
            </a:r>
            <a:endParaRPr/>
          </a:p>
          <a:p>
            <a:pPr indent="0" lvl="1" marL="113157" rtl="0" algn="l">
              <a:lnSpc>
                <a:spcPct val="90000"/>
              </a:lnSpc>
              <a:spcBef>
                <a:spcPts val="600"/>
              </a:spcBef>
              <a:spcAft>
                <a:spcPts val="0"/>
              </a:spcAft>
              <a:buSzPts val="2800"/>
              <a:buNone/>
            </a:pPr>
            <a:r>
              <a:t/>
            </a:r>
            <a:endParaRPr sz="2800"/>
          </a:p>
          <a:p>
            <a:pPr indent="-182880" lvl="1" marL="384048" rtl="0" algn="l">
              <a:lnSpc>
                <a:spcPct val="90000"/>
              </a:lnSpc>
              <a:spcBef>
                <a:spcPts val="600"/>
              </a:spcBef>
              <a:spcAft>
                <a:spcPts val="0"/>
              </a:spcAft>
              <a:buSzPts val="2800"/>
              <a:buFont typeface="Noto Sans Symbols"/>
              <a:buChar char="⮚"/>
            </a:pPr>
            <a:r>
              <a:rPr lang="en-US" sz="2800"/>
              <a:t>Instead of performing the same type of task again and again for the same type of applications, you create a framework having all those facilities together in one packet, hence providing the abstraction for your application and more importantly many applications.</a:t>
            </a:r>
            <a:endParaRPr/>
          </a:p>
        </p:txBody>
      </p:sp>
      <p:sp>
        <p:nvSpPr>
          <p:cNvPr id="122" name="Google Shape;122;p3"/>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4"/>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Introduction (.Net Framework)</a:t>
            </a:r>
            <a:endParaRPr/>
          </a:p>
        </p:txBody>
      </p:sp>
      <p:sp>
        <p:nvSpPr>
          <p:cNvPr id="128" name="Google Shape;128;p4"/>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rmAutofit fontScale="92500"/>
          </a:bodyPr>
          <a:lstStyle/>
          <a:p>
            <a:pPr indent="-234950" lvl="0" marL="91440" rtl="0" algn="l">
              <a:lnSpc>
                <a:spcPct val="90000"/>
              </a:lnSpc>
              <a:spcBef>
                <a:spcPts val="0"/>
              </a:spcBef>
              <a:spcAft>
                <a:spcPts val="0"/>
              </a:spcAft>
              <a:buSzPct val="100000"/>
              <a:buFont typeface="Noto Sans Symbols"/>
              <a:buChar char="▪"/>
            </a:pPr>
            <a:r>
              <a:rPr lang="en-US" sz="4000"/>
              <a:t>What is .Net framework?</a:t>
            </a:r>
            <a:endParaRPr/>
          </a:p>
          <a:p>
            <a:pPr indent="-182879" lvl="1" marL="384048" rtl="0" algn="l">
              <a:lnSpc>
                <a:spcPct val="90000"/>
              </a:lnSpc>
              <a:spcBef>
                <a:spcPts val="400"/>
              </a:spcBef>
              <a:spcAft>
                <a:spcPts val="0"/>
              </a:spcAft>
              <a:buSzPct val="100000"/>
              <a:buFont typeface="Noto Sans Symbols"/>
              <a:buChar char="⮚"/>
            </a:pPr>
            <a:r>
              <a:rPr lang="en-US" sz="2800"/>
              <a:t>.NET Framework is a software framework developed by </a:t>
            </a:r>
            <a:r>
              <a:rPr b="1" lang="en-US" sz="2800"/>
              <a:t>Microsoft</a:t>
            </a:r>
            <a:r>
              <a:rPr lang="en-US" sz="2800"/>
              <a:t> that runs primarily on Microsoft Windows. </a:t>
            </a:r>
            <a:endParaRPr sz="2800"/>
          </a:p>
          <a:p>
            <a:pPr indent="-18414" lvl="1" marL="384048" rtl="0" algn="l">
              <a:lnSpc>
                <a:spcPct val="90000"/>
              </a:lnSpc>
              <a:spcBef>
                <a:spcPts val="600"/>
              </a:spcBef>
              <a:spcAft>
                <a:spcPts val="0"/>
              </a:spcAft>
              <a:buSzPct val="100000"/>
              <a:buFont typeface="Noto Sans Symbols"/>
              <a:buNone/>
            </a:pPr>
            <a:r>
              <a:t/>
            </a:r>
            <a:endParaRPr sz="2800"/>
          </a:p>
          <a:p>
            <a:pPr indent="-182879" lvl="1" marL="384048" rtl="0" algn="l">
              <a:lnSpc>
                <a:spcPct val="90000"/>
              </a:lnSpc>
              <a:spcBef>
                <a:spcPts val="600"/>
              </a:spcBef>
              <a:spcAft>
                <a:spcPts val="0"/>
              </a:spcAft>
              <a:buSzPct val="100000"/>
              <a:buFont typeface="Noto Sans Symbols"/>
              <a:buChar char="⮚"/>
            </a:pPr>
            <a:r>
              <a:rPr lang="en-US" sz="2800"/>
              <a:t>The framework has been designed in such a way that it can be used from any of the following languages: C#, C++, Visual Basic, Jscript, COBOL, etc. All these languages can access the framework as well as communicate with each other.</a:t>
            </a:r>
            <a:endParaRPr sz="2800"/>
          </a:p>
        </p:txBody>
      </p:sp>
      <p:sp>
        <p:nvSpPr>
          <p:cNvPr id="129" name="Google Shape;129;p4"/>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5"/>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C# Overview</a:t>
            </a:r>
            <a:endParaRPr/>
          </a:p>
        </p:txBody>
      </p:sp>
      <p:sp>
        <p:nvSpPr>
          <p:cNvPr id="136" name="Google Shape;136;p5"/>
          <p:cNvSpPr txBox="1"/>
          <p:nvPr>
            <p:ph idx="1" type="body"/>
          </p:nvPr>
        </p:nvSpPr>
        <p:spPr>
          <a:xfrm>
            <a:off x="822960" y="1981200"/>
            <a:ext cx="7586403" cy="4267200"/>
          </a:xfrm>
          <a:prstGeom prst="rect">
            <a:avLst/>
          </a:prstGeom>
          <a:noFill/>
          <a:ln>
            <a:noFill/>
          </a:ln>
        </p:spPr>
        <p:txBody>
          <a:bodyPr anchorCtr="0" anchor="t" bIns="45700" lIns="0" spcFirstLastPara="1" rIns="0" wrap="square" tIns="45700">
            <a:normAutofit/>
          </a:bodyPr>
          <a:lstStyle/>
          <a:p>
            <a:pPr indent="-203200" lvl="0" marL="91440" rtl="0" algn="l">
              <a:lnSpc>
                <a:spcPct val="90000"/>
              </a:lnSpc>
              <a:spcBef>
                <a:spcPts val="0"/>
              </a:spcBef>
              <a:spcAft>
                <a:spcPts val="0"/>
              </a:spcAft>
              <a:buSzPts val="3200"/>
              <a:buFont typeface="Noto Sans Symbols"/>
              <a:buChar char="⮚"/>
            </a:pPr>
            <a:r>
              <a:rPr lang="en-US" sz="3200"/>
              <a:t>C# is a general-purpose, object-oriented programming language developed by Microsoft.</a:t>
            </a:r>
            <a:endParaRPr sz="3200"/>
          </a:p>
        </p:txBody>
      </p:sp>
      <p:sp>
        <p:nvSpPr>
          <p:cNvPr id="137" name="Google Shape;137;p5"/>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6"/>
          <p:cNvSpPr txBox="1"/>
          <p:nvPr>
            <p:ph type="title"/>
          </p:nvPr>
        </p:nvSpPr>
        <p:spPr>
          <a:xfrm>
            <a:off x="754552" y="1083808"/>
            <a:ext cx="8084647" cy="771525"/>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0000"/>
              <a:buFont typeface="Calibri"/>
              <a:buNone/>
            </a:pPr>
            <a:r>
              <a:rPr lang="en-US"/>
              <a:t>C# Overview - Creating a C# Program</a:t>
            </a:r>
            <a:endParaRPr/>
          </a:p>
        </p:txBody>
      </p:sp>
      <p:sp>
        <p:nvSpPr>
          <p:cNvPr id="143" name="Google Shape;143;p6"/>
          <p:cNvSpPr txBox="1"/>
          <p:nvPr>
            <p:ph idx="1" type="body"/>
          </p:nvPr>
        </p:nvSpPr>
        <p:spPr>
          <a:xfrm>
            <a:off x="754552" y="1950243"/>
            <a:ext cx="4629150" cy="3823949"/>
          </a:xfrm>
          <a:prstGeom prst="rect">
            <a:avLst/>
          </a:prstGeom>
          <a:noFill/>
          <a:ln>
            <a:noFill/>
          </a:ln>
        </p:spPr>
        <p:txBody>
          <a:bodyPr anchorCtr="0" anchor="t" bIns="45700" lIns="0" spcFirstLastPara="1" rIns="0" wrap="square" tIns="45700">
            <a:normAutofit lnSpcReduction="10000"/>
          </a:bodyPr>
          <a:lstStyle/>
          <a:p>
            <a:pPr indent="-127000" lvl="0" marL="91440" rtl="0" algn="l">
              <a:lnSpc>
                <a:spcPct val="90000"/>
              </a:lnSpc>
              <a:spcBef>
                <a:spcPts val="0"/>
              </a:spcBef>
              <a:spcAft>
                <a:spcPts val="0"/>
              </a:spcAft>
              <a:buSzPts val="2000"/>
              <a:buChar char=" "/>
            </a:pPr>
            <a:r>
              <a:rPr lang="en-US"/>
              <a:t>Open Visual Studio</a:t>
            </a:r>
            <a:endParaRPr/>
          </a:p>
          <a:p>
            <a:pPr indent="-127000" lvl="0" marL="91440" rtl="0" algn="l">
              <a:lnSpc>
                <a:spcPct val="90000"/>
              </a:lnSpc>
              <a:spcBef>
                <a:spcPts val="1400"/>
              </a:spcBef>
              <a:spcAft>
                <a:spcPts val="0"/>
              </a:spcAft>
              <a:buSzPts val="2000"/>
              <a:buChar char=" "/>
            </a:pPr>
            <a:r>
              <a:rPr lang="en-US"/>
              <a:t>From </a:t>
            </a:r>
            <a:r>
              <a:rPr b="1" lang="en-US"/>
              <a:t>File</a:t>
            </a:r>
            <a:r>
              <a:rPr lang="en-US"/>
              <a:t> 🡪 </a:t>
            </a:r>
            <a:r>
              <a:rPr b="1" lang="en-US"/>
              <a:t>New</a:t>
            </a:r>
            <a:r>
              <a:rPr lang="en-US"/>
              <a:t> 🡪 </a:t>
            </a:r>
            <a:r>
              <a:rPr b="1" lang="en-US"/>
              <a:t>Project</a:t>
            </a:r>
            <a:r>
              <a:rPr lang="en-US"/>
              <a:t> </a:t>
            </a:r>
            <a:endParaRPr/>
          </a:p>
          <a:p>
            <a:pPr indent="-127000" lvl="0" marL="91440" rtl="0" algn="l">
              <a:lnSpc>
                <a:spcPct val="90000"/>
              </a:lnSpc>
              <a:spcBef>
                <a:spcPts val="1400"/>
              </a:spcBef>
              <a:spcAft>
                <a:spcPts val="0"/>
              </a:spcAft>
              <a:buSzPts val="2000"/>
              <a:buChar char=" "/>
            </a:pPr>
            <a:r>
              <a:rPr lang="en-US"/>
              <a:t>Expand </a:t>
            </a:r>
            <a:r>
              <a:rPr b="1" lang="en-US"/>
              <a:t>Visual C#</a:t>
            </a:r>
            <a:r>
              <a:rPr lang="en-US"/>
              <a:t> </a:t>
            </a:r>
            <a:endParaRPr/>
          </a:p>
          <a:p>
            <a:pPr indent="-127000" lvl="0" marL="91440" rtl="0" algn="l">
              <a:lnSpc>
                <a:spcPct val="90000"/>
              </a:lnSpc>
              <a:spcBef>
                <a:spcPts val="1400"/>
              </a:spcBef>
              <a:spcAft>
                <a:spcPts val="0"/>
              </a:spcAft>
              <a:buSzPts val="2000"/>
              <a:buChar char=" "/>
            </a:pPr>
            <a:r>
              <a:rPr lang="en-US"/>
              <a:t>Then choose </a:t>
            </a:r>
            <a:r>
              <a:rPr b="1" lang="en-US"/>
              <a:t>Console Application</a:t>
            </a:r>
            <a:r>
              <a:rPr lang="en-US"/>
              <a:t>.</a:t>
            </a:r>
            <a:endParaRPr sz="2400"/>
          </a:p>
          <a:p>
            <a:pPr indent="0" lvl="0" marL="91440" rtl="0" algn="l">
              <a:lnSpc>
                <a:spcPct val="90000"/>
              </a:lnSpc>
              <a:spcBef>
                <a:spcPts val="1400"/>
              </a:spcBef>
              <a:spcAft>
                <a:spcPts val="0"/>
              </a:spcAft>
              <a:buSzPts val="2000"/>
              <a:buNone/>
            </a:pPr>
            <a:r>
              <a:t/>
            </a:r>
            <a:endParaRPr/>
          </a:p>
          <a:p>
            <a:pPr indent="0" lvl="0" marL="91440" rtl="0" algn="l">
              <a:lnSpc>
                <a:spcPct val="90000"/>
              </a:lnSpc>
              <a:spcBef>
                <a:spcPts val="1400"/>
              </a:spcBef>
              <a:spcAft>
                <a:spcPts val="0"/>
              </a:spcAft>
              <a:buSzPts val="2000"/>
              <a:buNone/>
            </a:pPr>
            <a:r>
              <a:t/>
            </a:r>
            <a:endParaRPr/>
          </a:p>
          <a:p>
            <a:pPr indent="0" lvl="0" marL="91440" rtl="0" algn="l">
              <a:lnSpc>
                <a:spcPct val="90000"/>
              </a:lnSpc>
              <a:spcBef>
                <a:spcPts val="1400"/>
              </a:spcBef>
              <a:spcAft>
                <a:spcPts val="0"/>
              </a:spcAft>
              <a:buSzPts val="2000"/>
              <a:buNone/>
            </a:pPr>
            <a:r>
              <a:t/>
            </a:r>
            <a:endParaRPr/>
          </a:p>
          <a:p>
            <a:pPr indent="0" lvl="0" marL="91440" rtl="0" algn="l">
              <a:lnSpc>
                <a:spcPct val="90000"/>
              </a:lnSpc>
              <a:spcBef>
                <a:spcPts val="1400"/>
              </a:spcBef>
              <a:spcAft>
                <a:spcPts val="0"/>
              </a:spcAft>
              <a:buSzPts val="2000"/>
              <a:buNone/>
            </a:pPr>
            <a:r>
              <a:t/>
            </a:r>
            <a:endParaRPr/>
          </a:p>
          <a:p>
            <a:pPr indent="-127000" lvl="0" marL="91440" rtl="0" algn="l">
              <a:lnSpc>
                <a:spcPct val="90000"/>
              </a:lnSpc>
              <a:spcBef>
                <a:spcPts val="1400"/>
              </a:spcBef>
              <a:spcAft>
                <a:spcPts val="0"/>
              </a:spcAft>
              <a:buSzPts val="2000"/>
              <a:buChar char=" "/>
            </a:pPr>
            <a:r>
              <a:rPr lang="en-US"/>
              <a:t>Press ctrl + F5 to run</a:t>
            </a:r>
            <a:endParaRPr/>
          </a:p>
        </p:txBody>
      </p:sp>
      <p:sp>
        <p:nvSpPr>
          <p:cNvPr id="144" name="Google Shape;144;p6"/>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Capture.PNG" id="145" name="Google Shape;145;p6"/>
          <p:cNvPicPr preferRelativeResize="0"/>
          <p:nvPr/>
        </p:nvPicPr>
        <p:blipFill rotWithShape="1">
          <a:blip r:embed="rId3">
            <a:alphaModFix/>
          </a:blip>
          <a:srcRect b="0" l="0" r="0" t="0"/>
          <a:stretch/>
        </p:blipFill>
        <p:spPr>
          <a:xfrm>
            <a:off x="4419600" y="2205377"/>
            <a:ext cx="4419599" cy="328102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7"/>
          <p:cNvSpPr txBox="1"/>
          <p:nvPr>
            <p:ph type="title"/>
          </p:nvPr>
        </p:nvSpPr>
        <p:spPr>
          <a:xfrm>
            <a:off x="762000" y="985835"/>
            <a:ext cx="8001000" cy="771525"/>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0000"/>
              <a:buFont typeface="Calibri"/>
              <a:buNone/>
            </a:pPr>
            <a:r>
              <a:rPr lang="en-US"/>
              <a:t>C# Overview – Program Structure</a:t>
            </a:r>
            <a:endParaRPr/>
          </a:p>
        </p:txBody>
      </p:sp>
      <p:sp>
        <p:nvSpPr>
          <p:cNvPr id="151" name="Google Shape;151;p7"/>
          <p:cNvSpPr txBox="1"/>
          <p:nvPr>
            <p:ph idx="1" type="body"/>
          </p:nvPr>
        </p:nvSpPr>
        <p:spPr>
          <a:xfrm>
            <a:off x="762000" y="1950243"/>
            <a:ext cx="7772400" cy="4221957"/>
          </a:xfrm>
          <a:prstGeom prst="rect">
            <a:avLst/>
          </a:prstGeom>
          <a:noFill/>
          <a:ln>
            <a:noFill/>
          </a:ln>
        </p:spPr>
        <p:txBody>
          <a:bodyPr anchorCtr="0" anchor="t" bIns="45700" lIns="0" spcFirstLastPara="1" rIns="0" wrap="square" tIns="45700">
            <a:normAutofit fontScale="92500" lnSpcReduction="20000"/>
          </a:bodyPr>
          <a:lstStyle/>
          <a:p>
            <a:pPr indent="-187960" lvl="0" marL="91440" rtl="0" algn="l">
              <a:lnSpc>
                <a:spcPct val="90000"/>
              </a:lnSpc>
              <a:spcBef>
                <a:spcPts val="0"/>
              </a:spcBef>
              <a:spcAft>
                <a:spcPts val="0"/>
              </a:spcAft>
              <a:buSzPct val="100000"/>
              <a:buChar char=" "/>
            </a:pPr>
            <a:r>
              <a:rPr lang="en-US" sz="3200"/>
              <a:t>A C# program consists of the following parts:</a:t>
            </a:r>
            <a:endParaRPr/>
          </a:p>
          <a:p>
            <a:pPr indent="-187960" lvl="0" marL="91440" rtl="0" algn="l">
              <a:lnSpc>
                <a:spcPct val="90000"/>
              </a:lnSpc>
              <a:spcBef>
                <a:spcPts val="1400"/>
              </a:spcBef>
              <a:spcAft>
                <a:spcPts val="0"/>
              </a:spcAft>
              <a:buSzPct val="100000"/>
              <a:buFont typeface="Noto Sans Symbols"/>
              <a:buChar char="▪"/>
            </a:pPr>
            <a:r>
              <a:rPr lang="en-US" sz="3200"/>
              <a:t>Namespace declaration</a:t>
            </a:r>
            <a:endParaRPr/>
          </a:p>
          <a:p>
            <a:pPr indent="-187960" lvl="0" marL="91440" rtl="0" algn="l">
              <a:lnSpc>
                <a:spcPct val="90000"/>
              </a:lnSpc>
              <a:spcBef>
                <a:spcPts val="1400"/>
              </a:spcBef>
              <a:spcAft>
                <a:spcPts val="0"/>
              </a:spcAft>
              <a:buSzPct val="100000"/>
              <a:buFont typeface="Noto Sans Symbols"/>
              <a:buChar char="▪"/>
            </a:pPr>
            <a:r>
              <a:rPr lang="en-US" sz="3200"/>
              <a:t>A class</a:t>
            </a:r>
            <a:endParaRPr/>
          </a:p>
          <a:p>
            <a:pPr indent="-187960" lvl="0" marL="91440" rtl="0" algn="l">
              <a:lnSpc>
                <a:spcPct val="90000"/>
              </a:lnSpc>
              <a:spcBef>
                <a:spcPts val="1400"/>
              </a:spcBef>
              <a:spcAft>
                <a:spcPts val="0"/>
              </a:spcAft>
              <a:buSzPct val="100000"/>
              <a:buFont typeface="Noto Sans Symbols"/>
              <a:buChar char="▪"/>
            </a:pPr>
            <a:r>
              <a:rPr lang="en-US" sz="3200"/>
              <a:t>Class methods</a:t>
            </a:r>
            <a:endParaRPr/>
          </a:p>
          <a:p>
            <a:pPr indent="-187960" lvl="0" marL="91440" rtl="0" algn="l">
              <a:lnSpc>
                <a:spcPct val="90000"/>
              </a:lnSpc>
              <a:spcBef>
                <a:spcPts val="1400"/>
              </a:spcBef>
              <a:spcAft>
                <a:spcPts val="0"/>
              </a:spcAft>
              <a:buSzPct val="100000"/>
              <a:buFont typeface="Noto Sans Symbols"/>
              <a:buChar char="▪"/>
            </a:pPr>
            <a:r>
              <a:rPr lang="en-US" sz="3200"/>
              <a:t>Class attributes</a:t>
            </a:r>
            <a:endParaRPr/>
          </a:p>
          <a:p>
            <a:pPr indent="-187960" lvl="0" marL="91440" rtl="0" algn="l">
              <a:lnSpc>
                <a:spcPct val="90000"/>
              </a:lnSpc>
              <a:spcBef>
                <a:spcPts val="1400"/>
              </a:spcBef>
              <a:spcAft>
                <a:spcPts val="0"/>
              </a:spcAft>
              <a:buSzPct val="100000"/>
              <a:buFont typeface="Noto Sans Symbols"/>
              <a:buChar char="▪"/>
            </a:pPr>
            <a:r>
              <a:rPr lang="en-US" sz="3200"/>
              <a:t>A Main method</a:t>
            </a:r>
            <a:endParaRPr/>
          </a:p>
          <a:p>
            <a:pPr indent="-187960" lvl="0" marL="91440" rtl="0" algn="l">
              <a:lnSpc>
                <a:spcPct val="90000"/>
              </a:lnSpc>
              <a:spcBef>
                <a:spcPts val="1400"/>
              </a:spcBef>
              <a:spcAft>
                <a:spcPts val="0"/>
              </a:spcAft>
              <a:buSzPct val="100000"/>
              <a:buFont typeface="Noto Sans Symbols"/>
              <a:buChar char="▪"/>
            </a:pPr>
            <a:r>
              <a:rPr lang="en-US" sz="3200"/>
              <a:t>Statements and Expressions</a:t>
            </a:r>
            <a:endParaRPr/>
          </a:p>
          <a:p>
            <a:pPr indent="-187960" lvl="0" marL="91440" rtl="0" algn="l">
              <a:lnSpc>
                <a:spcPct val="90000"/>
              </a:lnSpc>
              <a:spcBef>
                <a:spcPts val="1400"/>
              </a:spcBef>
              <a:spcAft>
                <a:spcPts val="0"/>
              </a:spcAft>
              <a:buSzPct val="100000"/>
              <a:buFont typeface="Noto Sans Symbols"/>
              <a:buChar char="▪"/>
            </a:pPr>
            <a:r>
              <a:rPr lang="en-US" sz="3200"/>
              <a:t>Comments</a:t>
            </a:r>
            <a:endParaRPr/>
          </a:p>
        </p:txBody>
      </p:sp>
      <p:sp>
        <p:nvSpPr>
          <p:cNvPr id="152" name="Google Shape;152;p7"/>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8"/>
          <p:cNvSpPr txBox="1"/>
          <p:nvPr>
            <p:ph type="title"/>
          </p:nvPr>
        </p:nvSpPr>
        <p:spPr>
          <a:xfrm>
            <a:off x="838200" y="985835"/>
            <a:ext cx="8305800" cy="771525"/>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C# Overview – Program Structure</a:t>
            </a:r>
            <a:endParaRPr/>
          </a:p>
        </p:txBody>
      </p:sp>
      <p:sp>
        <p:nvSpPr>
          <p:cNvPr id="158" name="Google Shape;158;p8"/>
          <p:cNvSpPr txBox="1"/>
          <p:nvPr>
            <p:ph idx="1" type="body"/>
          </p:nvPr>
        </p:nvSpPr>
        <p:spPr>
          <a:xfrm>
            <a:off x="838200" y="1950243"/>
            <a:ext cx="7772400" cy="4509543"/>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Font typeface="Noto Sans Symbols"/>
              <a:buChar char="▪"/>
            </a:pPr>
            <a:r>
              <a:rPr lang="en-US"/>
              <a:t>The first line of the program </a:t>
            </a:r>
            <a:r>
              <a:rPr b="1" lang="en-US"/>
              <a:t>using System;</a:t>
            </a:r>
            <a:r>
              <a:rPr lang="en-US"/>
              <a:t> - the </a:t>
            </a:r>
            <a:r>
              <a:rPr b="1" lang="en-US"/>
              <a:t>using</a:t>
            </a:r>
            <a:r>
              <a:rPr lang="en-US"/>
              <a:t> keyword is used to include the </a:t>
            </a:r>
            <a:r>
              <a:rPr b="1" lang="en-US"/>
              <a:t>System </a:t>
            </a:r>
            <a:r>
              <a:rPr lang="en-US"/>
              <a:t>namespace in the program. A program generally has multiple </a:t>
            </a:r>
            <a:r>
              <a:rPr b="1" lang="en-US"/>
              <a:t>using</a:t>
            </a:r>
            <a:r>
              <a:rPr lang="en-US"/>
              <a:t> statements.</a:t>
            </a:r>
            <a:endParaRPr/>
          </a:p>
          <a:p>
            <a:pPr indent="0" lvl="0" marL="91440" rtl="0" algn="l">
              <a:lnSpc>
                <a:spcPct val="90000"/>
              </a:lnSpc>
              <a:spcBef>
                <a:spcPts val="1400"/>
              </a:spcBef>
              <a:spcAft>
                <a:spcPts val="0"/>
              </a:spcAft>
              <a:buSzPts val="2000"/>
              <a:buFont typeface="Noto Sans Symbols"/>
              <a:buNone/>
            </a:pPr>
            <a:r>
              <a:t/>
            </a:r>
            <a:endParaRPr/>
          </a:p>
          <a:p>
            <a:pPr indent="-152400" lvl="0" marL="91440" rtl="0" algn="l">
              <a:lnSpc>
                <a:spcPct val="90000"/>
              </a:lnSpc>
              <a:spcBef>
                <a:spcPts val="1400"/>
              </a:spcBef>
              <a:spcAft>
                <a:spcPts val="0"/>
              </a:spcAft>
              <a:buSzPts val="2400"/>
              <a:buFont typeface="Noto Sans Symbols"/>
              <a:buChar char="▪"/>
            </a:pPr>
            <a:r>
              <a:rPr lang="en-US" sz="2400"/>
              <a:t> </a:t>
            </a:r>
            <a:r>
              <a:rPr lang="en-US"/>
              <a:t>The next line has the </a:t>
            </a:r>
            <a:r>
              <a:rPr b="1" lang="en-US"/>
              <a:t>namespace</a:t>
            </a:r>
            <a:r>
              <a:rPr lang="en-US"/>
              <a:t> declaration. A </a:t>
            </a:r>
            <a:r>
              <a:rPr b="1" lang="en-US"/>
              <a:t>namespace</a:t>
            </a:r>
            <a:r>
              <a:rPr lang="en-US"/>
              <a:t> is a collection of classes.</a:t>
            </a:r>
            <a:endParaRPr/>
          </a:p>
          <a:p>
            <a:pPr indent="0" lvl="0" marL="0" rtl="0" algn="l">
              <a:lnSpc>
                <a:spcPct val="90000"/>
              </a:lnSpc>
              <a:spcBef>
                <a:spcPts val="1400"/>
              </a:spcBef>
              <a:spcAft>
                <a:spcPts val="0"/>
              </a:spcAft>
              <a:buSzPts val="2400"/>
              <a:buNone/>
            </a:pPr>
            <a:r>
              <a:t/>
            </a:r>
            <a:endParaRPr sz="2400"/>
          </a:p>
          <a:p>
            <a:pPr indent="-127000" lvl="0" marL="91440" rtl="0" algn="l">
              <a:lnSpc>
                <a:spcPct val="90000"/>
              </a:lnSpc>
              <a:spcBef>
                <a:spcPts val="1400"/>
              </a:spcBef>
              <a:spcAft>
                <a:spcPts val="0"/>
              </a:spcAft>
              <a:buSzPts val="2000"/>
              <a:buFont typeface="Noto Sans Symbols"/>
              <a:buChar char="▪"/>
            </a:pPr>
            <a:r>
              <a:rPr lang="en-US"/>
              <a:t>The next line has a </a:t>
            </a:r>
            <a:r>
              <a:rPr b="1" lang="en-US"/>
              <a:t>class</a:t>
            </a:r>
            <a:r>
              <a:rPr lang="en-US"/>
              <a:t> declaration.</a:t>
            </a:r>
            <a:endParaRPr/>
          </a:p>
          <a:p>
            <a:pPr indent="0" lvl="0" marL="91440" rtl="0" algn="l">
              <a:lnSpc>
                <a:spcPct val="90000"/>
              </a:lnSpc>
              <a:spcBef>
                <a:spcPts val="1400"/>
              </a:spcBef>
              <a:spcAft>
                <a:spcPts val="0"/>
              </a:spcAft>
              <a:buSzPts val="2000"/>
              <a:buFont typeface="Noto Sans Symbols"/>
              <a:buNone/>
            </a:pPr>
            <a:r>
              <a:t/>
            </a:r>
            <a:endParaRPr/>
          </a:p>
          <a:p>
            <a:pPr indent="-127000" lvl="0" marL="91440" rtl="0" algn="l">
              <a:lnSpc>
                <a:spcPct val="90000"/>
              </a:lnSpc>
              <a:spcBef>
                <a:spcPts val="1400"/>
              </a:spcBef>
              <a:spcAft>
                <a:spcPts val="0"/>
              </a:spcAft>
              <a:buSzPts val="2000"/>
              <a:buFont typeface="Noto Sans Symbols"/>
              <a:buChar char="▪"/>
            </a:pPr>
            <a:r>
              <a:rPr lang="en-US"/>
              <a:t>The next line defines the </a:t>
            </a:r>
            <a:r>
              <a:rPr b="1" lang="en-US"/>
              <a:t>Main</a:t>
            </a:r>
            <a:r>
              <a:rPr lang="en-US"/>
              <a:t> method, which is the </a:t>
            </a:r>
            <a:r>
              <a:rPr b="1" lang="en-US"/>
              <a:t>entry point</a:t>
            </a:r>
            <a:r>
              <a:rPr lang="en-US"/>
              <a:t> for all C# programs. The </a:t>
            </a:r>
            <a:r>
              <a:rPr b="1" lang="en-US"/>
              <a:t>Main </a:t>
            </a:r>
            <a:r>
              <a:rPr lang="en-US"/>
              <a:t>method states what the class does when executed.</a:t>
            </a:r>
            <a:endParaRPr sz="2400"/>
          </a:p>
        </p:txBody>
      </p:sp>
      <p:sp>
        <p:nvSpPr>
          <p:cNvPr id="159" name="Google Shape;159;p8"/>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9"/>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Data Types</a:t>
            </a:r>
            <a:endParaRPr/>
          </a:p>
        </p:txBody>
      </p:sp>
      <p:sp>
        <p:nvSpPr>
          <p:cNvPr id="165" name="Google Shape;165;p9"/>
          <p:cNvSpPr txBox="1"/>
          <p:nvPr>
            <p:ph idx="1" type="body"/>
          </p:nvPr>
        </p:nvSpPr>
        <p:spPr>
          <a:xfrm>
            <a:off x="914400" y="1905000"/>
            <a:ext cx="7494963" cy="441960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r>
              <a:rPr lang="en-US"/>
              <a:t>The variables in C#, are categorized into the following types:</a:t>
            </a:r>
            <a:endParaRPr/>
          </a:p>
          <a:p>
            <a:pPr indent="-152400" lvl="0" marL="91440" rtl="0" algn="l">
              <a:lnSpc>
                <a:spcPct val="90000"/>
              </a:lnSpc>
              <a:spcBef>
                <a:spcPts val="1400"/>
              </a:spcBef>
              <a:spcAft>
                <a:spcPts val="0"/>
              </a:spcAft>
              <a:buSzPts val="2400"/>
              <a:buFont typeface="Noto Sans Symbols"/>
              <a:buChar char="▪"/>
            </a:pPr>
            <a:r>
              <a:rPr b="1" lang="en-US" sz="2400"/>
              <a:t>Value types</a:t>
            </a:r>
            <a:endParaRPr/>
          </a:p>
          <a:p>
            <a:pPr indent="-182880" lvl="1" marL="384048" rtl="0" algn="l">
              <a:lnSpc>
                <a:spcPct val="90000"/>
              </a:lnSpc>
              <a:spcBef>
                <a:spcPts val="400"/>
              </a:spcBef>
              <a:spcAft>
                <a:spcPts val="0"/>
              </a:spcAft>
              <a:buSzPts val="2400"/>
              <a:buFont typeface="Noto Sans Symbols"/>
              <a:buChar char="⮚"/>
            </a:pPr>
            <a:r>
              <a:rPr lang="en-US" sz="2400"/>
              <a:t>Can be assigned a value directly. </a:t>
            </a:r>
            <a:endParaRPr/>
          </a:p>
          <a:p>
            <a:pPr indent="-152400" lvl="0" marL="91440" rtl="0" algn="l">
              <a:lnSpc>
                <a:spcPct val="90000"/>
              </a:lnSpc>
              <a:spcBef>
                <a:spcPts val="1600"/>
              </a:spcBef>
              <a:spcAft>
                <a:spcPts val="0"/>
              </a:spcAft>
              <a:buSzPts val="2400"/>
              <a:buFont typeface="Noto Sans Symbols"/>
              <a:buChar char="▪"/>
            </a:pPr>
            <a:r>
              <a:rPr b="1" lang="en-US" sz="2400"/>
              <a:t>Reference types</a:t>
            </a:r>
            <a:endParaRPr/>
          </a:p>
          <a:p>
            <a:pPr indent="-182880" lvl="1" marL="384048" rtl="0" algn="l">
              <a:lnSpc>
                <a:spcPct val="90000"/>
              </a:lnSpc>
              <a:spcBef>
                <a:spcPts val="400"/>
              </a:spcBef>
              <a:spcAft>
                <a:spcPts val="0"/>
              </a:spcAft>
              <a:buSzPts val="2400"/>
              <a:buFont typeface="Noto Sans Symbols"/>
              <a:buChar char="⮚"/>
            </a:pPr>
            <a:r>
              <a:rPr lang="en-US" sz="2400"/>
              <a:t>Do not contain the actual data stored in a variable, but they contain a reference to the variables.</a:t>
            </a:r>
            <a:endParaRPr/>
          </a:p>
          <a:p>
            <a:pPr indent="-152400" lvl="0" marL="91440" rtl="0" algn="l">
              <a:lnSpc>
                <a:spcPct val="90000"/>
              </a:lnSpc>
              <a:spcBef>
                <a:spcPts val="1600"/>
              </a:spcBef>
              <a:spcAft>
                <a:spcPts val="0"/>
              </a:spcAft>
              <a:buSzPts val="2400"/>
              <a:buFont typeface="Noto Sans Symbols"/>
              <a:buChar char="▪"/>
            </a:pPr>
            <a:r>
              <a:rPr b="1" lang="en-US" sz="2400"/>
              <a:t>Pointer types</a:t>
            </a:r>
            <a:endParaRPr/>
          </a:p>
          <a:p>
            <a:pPr indent="-182880" lvl="1" marL="384048" rtl="0" algn="l">
              <a:lnSpc>
                <a:spcPct val="90000"/>
              </a:lnSpc>
              <a:spcBef>
                <a:spcPts val="400"/>
              </a:spcBef>
              <a:spcAft>
                <a:spcPts val="0"/>
              </a:spcAft>
              <a:buSzPts val="2400"/>
              <a:buFont typeface="Noto Sans Symbols"/>
              <a:buChar char="⮚"/>
            </a:pPr>
            <a:r>
              <a:rPr lang="en-US" sz="2400"/>
              <a:t>Pointer type variables store the memory address of another type. Pointers in C# have the same capabilities as the pointers in C or C++.</a:t>
            </a:r>
            <a:endParaRPr/>
          </a:p>
          <a:p>
            <a:pPr indent="0" lvl="1" marL="113157" rtl="0" algn="l">
              <a:lnSpc>
                <a:spcPct val="90000"/>
              </a:lnSpc>
              <a:spcBef>
                <a:spcPts val="600"/>
              </a:spcBef>
              <a:spcAft>
                <a:spcPts val="0"/>
              </a:spcAft>
              <a:buSzPts val="1800"/>
              <a:buNone/>
            </a:pPr>
            <a:r>
              <a:t/>
            </a:r>
            <a:endParaRPr/>
          </a:p>
        </p:txBody>
      </p:sp>
      <p:sp>
        <p:nvSpPr>
          <p:cNvPr id="166" name="Google Shape;166;p9"/>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0"/>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Data Types</a:t>
            </a:r>
            <a:endParaRPr/>
          </a:p>
        </p:txBody>
      </p:sp>
      <p:sp>
        <p:nvSpPr>
          <p:cNvPr id="172" name="Google Shape;172;p10"/>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173" name="Google Shape;173;p10"/>
          <p:cNvGraphicFramePr/>
          <p:nvPr/>
        </p:nvGraphicFramePr>
        <p:xfrm>
          <a:off x="2011203" y="1904047"/>
          <a:ext cx="3000000" cy="3000000"/>
        </p:xfrm>
        <a:graphic>
          <a:graphicData uri="http://schemas.openxmlformats.org/drawingml/2006/table">
            <a:tbl>
              <a:tblPr bandRow="1" firstRow="1">
                <a:noFill/>
                <a:tableStyleId>{E5C57DC9-6AB1-4299-AF9C-C5C3B787C5C4}</a:tableStyleId>
              </a:tblPr>
              <a:tblGrid>
                <a:gridCol w="2583650"/>
                <a:gridCol w="2583650"/>
              </a:tblGrid>
              <a:tr h="304200">
                <a:tc>
                  <a:txBody>
                    <a:bodyPr/>
                    <a:lstStyle/>
                    <a:p>
                      <a:pPr indent="0" lvl="0" marL="0" marR="0" rtl="0" algn="l">
                        <a:lnSpc>
                          <a:spcPct val="100000"/>
                        </a:lnSpc>
                        <a:spcBef>
                          <a:spcPts val="0"/>
                        </a:spcBef>
                        <a:spcAft>
                          <a:spcPts val="0"/>
                        </a:spcAft>
                        <a:buClr>
                          <a:schemeClr val="dk1"/>
                        </a:buClr>
                        <a:buSzPts val="2800"/>
                        <a:buFont typeface="Calibri"/>
                        <a:buNone/>
                      </a:pPr>
                      <a:r>
                        <a:rPr lang="en-US" sz="2800" u="none" cap="none" strike="noStrike"/>
                        <a:t>Value Type</a:t>
                      </a:r>
                      <a:endParaRPr/>
                    </a:p>
                  </a:txBody>
                  <a:tcPr marT="25725" marB="25725" marR="51425" marL="51425"/>
                </a:tc>
                <a:tc>
                  <a:txBody>
                    <a:bodyPr/>
                    <a:lstStyle/>
                    <a:p>
                      <a:pPr indent="0" lvl="0" marL="0" marR="0" rtl="0" algn="l">
                        <a:lnSpc>
                          <a:spcPct val="100000"/>
                        </a:lnSpc>
                        <a:spcBef>
                          <a:spcPts val="0"/>
                        </a:spcBef>
                        <a:spcAft>
                          <a:spcPts val="0"/>
                        </a:spcAft>
                        <a:buClr>
                          <a:schemeClr val="dk1"/>
                        </a:buClr>
                        <a:buSzPts val="2800"/>
                        <a:buFont typeface="Calibri"/>
                        <a:buNone/>
                      </a:pPr>
                      <a:r>
                        <a:rPr lang="en-US" sz="2800" u="none" cap="none" strike="noStrike"/>
                        <a:t>Reference Type</a:t>
                      </a:r>
                      <a:endParaRPr/>
                    </a:p>
                  </a:txBody>
                  <a:tcPr marT="25725" marB="25725" marR="51425" marL="51425"/>
                </a:tc>
              </a:tr>
              <a:tr h="304200">
                <a:tc>
                  <a:txBody>
                    <a:bodyPr/>
                    <a:lstStyle/>
                    <a:p>
                      <a:pPr indent="0" lvl="0" marL="0" marR="0" rtl="0" algn="l">
                        <a:spcBef>
                          <a:spcPts val="0"/>
                        </a:spcBef>
                        <a:spcAft>
                          <a:spcPts val="0"/>
                        </a:spcAft>
                        <a:buNone/>
                      </a:pPr>
                      <a:r>
                        <a:rPr lang="en-US" sz="2800" u="none" cap="none" strike="noStrike"/>
                        <a:t>Structs</a:t>
                      </a:r>
                      <a:endParaRPr sz="2800"/>
                    </a:p>
                  </a:txBody>
                  <a:tcPr marT="25725" marB="25725" marR="51425" marL="51425"/>
                </a:tc>
                <a:tc>
                  <a:txBody>
                    <a:bodyPr/>
                    <a:lstStyle/>
                    <a:p>
                      <a:pPr indent="0" lvl="0" marL="0" marR="0" rtl="0" algn="l">
                        <a:spcBef>
                          <a:spcPts val="0"/>
                        </a:spcBef>
                        <a:spcAft>
                          <a:spcPts val="0"/>
                        </a:spcAft>
                        <a:buNone/>
                      </a:pPr>
                      <a:r>
                        <a:rPr lang="en-US" sz="2800"/>
                        <a:t>Classes</a:t>
                      </a:r>
                      <a:endParaRPr/>
                    </a:p>
                  </a:txBody>
                  <a:tcPr marT="25725" marB="25725" marR="51425" marL="51425"/>
                </a:tc>
              </a:tr>
              <a:tr h="304200">
                <a:tc>
                  <a:txBody>
                    <a:bodyPr/>
                    <a:lstStyle/>
                    <a:p>
                      <a:pPr indent="0" lvl="0" marL="0" marR="0" rtl="0" algn="l">
                        <a:spcBef>
                          <a:spcPts val="0"/>
                        </a:spcBef>
                        <a:spcAft>
                          <a:spcPts val="0"/>
                        </a:spcAft>
                        <a:buNone/>
                      </a:pPr>
                      <a:r>
                        <a:rPr lang="en-US" sz="2800"/>
                        <a:t>Enums</a:t>
                      </a:r>
                      <a:endParaRPr sz="2800"/>
                    </a:p>
                  </a:txBody>
                  <a:tcPr marT="25725" marB="25725" marR="51425" marL="51425"/>
                </a:tc>
                <a:tc>
                  <a:txBody>
                    <a:bodyPr/>
                    <a:lstStyle/>
                    <a:p>
                      <a:pPr indent="0" lvl="0" marL="0" marR="0" rtl="0" algn="l">
                        <a:spcBef>
                          <a:spcPts val="0"/>
                        </a:spcBef>
                        <a:spcAft>
                          <a:spcPts val="0"/>
                        </a:spcAft>
                        <a:buNone/>
                      </a:pPr>
                      <a:r>
                        <a:rPr lang="en-US" sz="2800"/>
                        <a:t>Arrays</a:t>
                      </a:r>
                      <a:endParaRPr/>
                    </a:p>
                  </a:txBody>
                  <a:tcPr marT="25725" marB="25725" marR="51425" marL="51425"/>
                </a:tc>
              </a:tr>
              <a:tr h="538175">
                <a:tc>
                  <a:txBody>
                    <a:bodyPr/>
                    <a:lstStyle/>
                    <a:p>
                      <a:pPr indent="0" lvl="0" marL="0" marR="0" rtl="0" algn="l">
                        <a:spcBef>
                          <a:spcPts val="0"/>
                        </a:spcBef>
                        <a:spcAft>
                          <a:spcPts val="0"/>
                        </a:spcAft>
                        <a:buNone/>
                      </a:pPr>
                      <a:r>
                        <a:rPr lang="en-US" sz="2800"/>
                        <a:t>Primitive data</a:t>
                      </a:r>
                      <a:r>
                        <a:rPr lang="en-US" sz="2800"/>
                        <a:t> types (int, …etc)</a:t>
                      </a:r>
                      <a:endParaRPr sz="2800"/>
                    </a:p>
                  </a:txBody>
                  <a:tcPr marT="25725" marB="25725" marR="51425" marL="51425"/>
                </a:tc>
                <a:tc>
                  <a:txBody>
                    <a:bodyPr/>
                    <a:lstStyle/>
                    <a:p>
                      <a:pPr indent="0" lvl="0" marL="0" marR="0" rtl="0" algn="l">
                        <a:spcBef>
                          <a:spcPts val="0"/>
                        </a:spcBef>
                        <a:spcAft>
                          <a:spcPts val="0"/>
                        </a:spcAft>
                        <a:buNone/>
                      </a:pPr>
                      <a:r>
                        <a:rPr lang="en-US" sz="2800"/>
                        <a:t>Interfaces</a:t>
                      </a:r>
                      <a:endParaRPr/>
                    </a:p>
                  </a:txBody>
                  <a:tcPr marT="25725" marB="25725" marR="51425" marL="51425"/>
                </a:tc>
              </a:tr>
            </a:tbl>
          </a:graphicData>
        </a:graphic>
      </p:graphicFrame>
      <p:sp>
        <p:nvSpPr>
          <p:cNvPr id="174" name="Google Shape;174;p10"/>
          <p:cNvSpPr txBox="1"/>
          <p:nvPr/>
        </p:nvSpPr>
        <p:spPr>
          <a:xfrm>
            <a:off x="1143000" y="4363025"/>
            <a:ext cx="7543800" cy="1569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Calibri"/>
                <a:ea typeface="Calibri"/>
                <a:cs typeface="Calibri"/>
                <a:sym typeface="Calibri"/>
              </a:rPr>
              <a:t>Value-type objects ar</a:t>
            </a:r>
            <a:r>
              <a:rPr lang="en-US" sz="2400">
                <a:solidFill>
                  <a:schemeClr val="dk1"/>
                </a:solidFill>
                <a:latin typeface="Calibri"/>
                <a:ea typeface="Calibri"/>
                <a:cs typeface="Calibri"/>
                <a:sym typeface="Calibri"/>
              </a:rPr>
              <a:t>e </a:t>
            </a:r>
            <a:r>
              <a:rPr b="0" i="0" lang="en-US" sz="2400" u="none" cap="none" strike="noStrike">
                <a:solidFill>
                  <a:schemeClr val="dk1"/>
                </a:solidFill>
                <a:latin typeface="Calibri"/>
                <a:ea typeface="Calibri"/>
                <a:cs typeface="Calibri"/>
                <a:sym typeface="Calibri"/>
              </a:rPr>
              <a:t>destroyed when their containing context is destroyed, whereas </a:t>
            </a:r>
            <a:r>
              <a:rPr b="1" i="0" lang="en-US" sz="2400" u="none" cap="none" strike="noStrike">
                <a:solidFill>
                  <a:schemeClr val="dk1"/>
                </a:solidFill>
                <a:latin typeface="Calibri"/>
                <a:ea typeface="Calibri"/>
                <a:cs typeface="Calibri"/>
                <a:sym typeface="Calibri"/>
              </a:rPr>
              <a:t>reference-type </a:t>
            </a:r>
            <a:r>
              <a:rPr b="0" i="0" lang="en-US" sz="2400" u="none" cap="none" strike="noStrike">
                <a:solidFill>
                  <a:schemeClr val="dk1"/>
                </a:solidFill>
                <a:latin typeface="Calibri"/>
                <a:ea typeface="Calibri"/>
                <a:cs typeface="Calibri"/>
                <a:sym typeface="Calibri"/>
              </a:rPr>
              <a:t>objects are destroyed by </a:t>
            </a:r>
            <a:r>
              <a:rPr b="1" i="0" lang="en-US" sz="2400" u="none" cap="none" strike="noStrike">
                <a:solidFill>
                  <a:schemeClr val="dk1"/>
                </a:solidFill>
                <a:latin typeface="Calibri"/>
                <a:ea typeface="Calibri"/>
                <a:cs typeface="Calibri"/>
                <a:sym typeface="Calibri"/>
              </a:rPr>
              <a:t>the garbage collector </a:t>
            </a:r>
            <a:r>
              <a:rPr b="0" i="0" lang="en-US" sz="2400" u="none" cap="none" strike="noStrike">
                <a:solidFill>
                  <a:schemeClr val="dk1"/>
                </a:solidFill>
                <a:latin typeface="Calibri"/>
                <a:ea typeface="Calibri"/>
                <a:cs typeface="Calibri"/>
                <a:sym typeface="Calibri"/>
              </a:rPr>
              <a:t>at an unspecified time </a:t>
            </a:r>
            <a:r>
              <a:rPr b="1" i="0" lang="en-US" sz="2400" u="none" cap="none" strike="noStrike">
                <a:solidFill>
                  <a:schemeClr val="dk1"/>
                </a:solidFill>
                <a:latin typeface="Calibri"/>
                <a:ea typeface="Calibri"/>
                <a:cs typeface="Calibri"/>
                <a:sym typeface="Calibri"/>
              </a:rPr>
              <a:t>after the last reference to them is removed.</a:t>
            </a:r>
            <a:endParaRPr b="1" sz="3600">
              <a:solidFill>
                <a:srgbClr val="2D01E9"/>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1"/>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Arrays</a:t>
            </a:r>
            <a:endParaRPr/>
          </a:p>
        </p:txBody>
      </p:sp>
      <p:sp>
        <p:nvSpPr>
          <p:cNvPr id="180" name="Google Shape;180;p11"/>
          <p:cNvSpPr txBox="1"/>
          <p:nvPr>
            <p:ph idx="1" type="body"/>
          </p:nvPr>
        </p:nvSpPr>
        <p:spPr>
          <a:xfrm>
            <a:off x="822960" y="1981200"/>
            <a:ext cx="8168700" cy="4191000"/>
          </a:xfrm>
          <a:prstGeom prst="rect">
            <a:avLst/>
          </a:prstGeom>
          <a:noFill/>
          <a:ln>
            <a:noFill/>
          </a:ln>
        </p:spPr>
        <p:txBody>
          <a:bodyPr anchorCtr="0" anchor="t" bIns="45700" lIns="0" spcFirstLastPara="1" rIns="0" wrap="square" tIns="45700">
            <a:normAutofit/>
          </a:bodyPr>
          <a:lstStyle/>
          <a:p>
            <a:pPr indent="-152400" lvl="0" marL="91440" rtl="0" algn="l">
              <a:lnSpc>
                <a:spcPct val="90000"/>
              </a:lnSpc>
              <a:spcBef>
                <a:spcPts val="0"/>
              </a:spcBef>
              <a:spcAft>
                <a:spcPts val="0"/>
              </a:spcAft>
              <a:buSzPts val="2400"/>
              <a:buFont typeface="Noto Sans Symbols"/>
              <a:buChar char="▪"/>
            </a:pPr>
            <a:r>
              <a:rPr lang="en-US" sz="2400"/>
              <a:t>Array is a </a:t>
            </a:r>
            <a:r>
              <a:rPr b="1" lang="en-US" sz="2400"/>
              <a:t>reference type</a:t>
            </a:r>
            <a:r>
              <a:rPr lang="en-US" sz="2400"/>
              <a:t>, so you need to use the </a:t>
            </a:r>
            <a:r>
              <a:rPr b="1" lang="en-US" sz="2400"/>
              <a:t>new</a:t>
            </a:r>
            <a:r>
              <a:rPr lang="en-US" sz="2400"/>
              <a:t> keyword to create an instance of the array. </a:t>
            </a:r>
            <a:endParaRPr/>
          </a:p>
          <a:p>
            <a:pPr indent="-152400" lvl="0" marL="91440" rtl="0" algn="l">
              <a:lnSpc>
                <a:spcPct val="90000"/>
              </a:lnSpc>
              <a:spcBef>
                <a:spcPts val="1400"/>
              </a:spcBef>
              <a:spcAft>
                <a:spcPts val="0"/>
              </a:spcAft>
              <a:buSzPts val="2400"/>
              <a:buChar char=" "/>
            </a:pPr>
            <a:r>
              <a:rPr lang="en-US" sz="2400"/>
              <a:t>Example: </a:t>
            </a:r>
            <a:r>
              <a:rPr lang="en-US" sz="2400">
                <a:solidFill>
                  <a:srgbClr val="2D01E9"/>
                </a:solidFill>
              </a:rPr>
              <a:t>double</a:t>
            </a:r>
            <a:r>
              <a:rPr lang="en-US" sz="2400"/>
              <a:t>[] balance = </a:t>
            </a:r>
            <a:r>
              <a:rPr lang="en-US" sz="2400">
                <a:solidFill>
                  <a:srgbClr val="2D01E9"/>
                </a:solidFill>
              </a:rPr>
              <a:t>new</a:t>
            </a:r>
            <a:r>
              <a:rPr lang="en-US" sz="2400"/>
              <a:t> </a:t>
            </a:r>
            <a:r>
              <a:rPr lang="en-US" sz="2400">
                <a:solidFill>
                  <a:srgbClr val="2D01E9"/>
                </a:solidFill>
              </a:rPr>
              <a:t>double</a:t>
            </a:r>
            <a:r>
              <a:rPr lang="en-US" sz="2400"/>
              <a:t>[10];</a:t>
            </a:r>
            <a:endParaRPr/>
          </a:p>
          <a:p>
            <a:pPr indent="-152400" lvl="0" marL="91440" rtl="0" algn="l">
              <a:lnSpc>
                <a:spcPct val="90000"/>
              </a:lnSpc>
              <a:spcBef>
                <a:spcPts val="1400"/>
              </a:spcBef>
              <a:spcAft>
                <a:spcPts val="0"/>
              </a:spcAft>
              <a:buSzPts val="2400"/>
              <a:buFont typeface="Noto Sans Symbols"/>
              <a:buChar char="▪"/>
            </a:pPr>
            <a:r>
              <a:rPr lang="en-US" sz="2400"/>
              <a:t>Multi-Dimensional Array</a:t>
            </a:r>
            <a:endParaRPr/>
          </a:p>
          <a:p>
            <a:pPr indent="-182880" lvl="1" marL="384048" rtl="0" algn="l">
              <a:lnSpc>
                <a:spcPct val="90000"/>
              </a:lnSpc>
              <a:spcBef>
                <a:spcPts val="400"/>
              </a:spcBef>
              <a:spcAft>
                <a:spcPts val="0"/>
              </a:spcAft>
              <a:buSzPts val="2400"/>
              <a:buNone/>
            </a:pPr>
            <a:r>
              <a:rPr lang="en-US" sz="2400">
                <a:solidFill>
                  <a:srgbClr val="2D01E9"/>
                </a:solidFill>
              </a:rPr>
              <a:t>int </a:t>
            </a:r>
            <a:r>
              <a:rPr lang="en-US" sz="2400"/>
              <a:t>[ , ] array </a:t>
            </a:r>
            <a:r>
              <a:rPr lang="en-US" sz="3200">
                <a:solidFill>
                  <a:srgbClr val="0070C0"/>
                </a:solidFill>
                <a:latin typeface="Lucida Sans"/>
                <a:ea typeface="Lucida Sans"/>
                <a:cs typeface="Lucida Sans"/>
                <a:sym typeface="Lucida Sans"/>
              </a:rPr>
              <a:t>= </a:t>
            </a:r>
            <a:r>
              <a:rPr lang="en-US" sz="2400">
                <a:solidFill>
                  <a:srgbClr val="2D01E9"/>
                </a:solidFill>
              </a:rPr>
              <a:t>new</a:t>
            </a:r>
            <a:r>
              <a:rPr lang="en-US" sz="3200">
                <a:solidFill>
                  <a:srgbClr val="0070C0"/>
                </a:solidFill>
                <a:latin typeface="Lucida Sans"/>
                <a:ea typeface="Lucida Sans"/>
                <a:cs typeface="Lucida Sans"/>
                <a:sym typeface="Lucida Sans"/>
              </a:rPr>
              <a:t> </a:t>
            </a:r>
            <a:r>
              <a:rPr lang="en-US" sz="2400">
                <a:solidFill>
                  <a:srgbClr val="2D01E9"/>
                </a:solidFill>
              </a:rPr>
              <a:t>int </a:t>
            </a:r>
            <a:r>
              <a:rPr lang="en-US" sz="2400"/>
              <a:t>[4, 2] {{1, 2}, {3, 4}, {5, 6}, { 7,8}};</a:t>
            </a:r>
            <a:endParaRPr/>
          </a:p>
          <a:p>
            <a:pPr indent="-152400" lvl="0" marL="91440" rtl="0" algn="l">
              <a:lnSpc>
                <a:spcPct val="90000"/>
              </a:lnSpc>
              <a:spcBef>
                <a:spcPts val="1600"/>
              </a:spcBef>
              <a:spcAft>
                <a:spcPts val="0"/>
              </a:spcAft>
              <a:buSzPts val="2400"/>
              <a:buFont typeface="Noto Sans Symbols"/>
              <a:buChar char="▪"/>
            </a:pPr>
            <a:r>
              <a:rPr lang="en-US" sz="2400"/>
              <a:t>Jagged Array (Array of arrays)</a:t>
            </a:r>
            <a:endParaRPr/>
          </a:p>
          <a:p>
            <a:pPr indent="-182880" lvl="1" marL="384048" rtl="0" algn="l">
              <a:lnSpc>
                <a:spcPct val="90000"/>
              </a:lnSpc>
              <a:spcBef>
                <a:spcPts val="400"/>
              </a:spcBef>
              <a:spcAft>
                <a:spcPts val="0"/>
              </a:spcAft>
              <a:buSzPts val="2400"/>
              <a:buNone/>
            </a:pPr>
            <a:r>
              <a:rPr lang="en-US" sz="2400">
                <a:solidFill>
                  <a:srgbClr val="2D01E9"/>
                </a:solidFill>
              </a:rPr>
              <a:t>int</a:t>
            </a:r>
            <a:r>
              <a:rPr lang="en-US" sz="2400"/>
              <a:t>[][] jaggedArray = </a:t>
            </a:r>
            <a:r>
              <a:rPr lang="en-US" sz="2400">
                <a:solidFill>
                  <a:srgbClr val="2D01E9"/>
                </a:solidFill>
              </a:rPr>
              <a:t>new</a:t>
            </a:r>
            <a:r>
              <a:rPr lang="en-US" sz="2400"/>
              <a:t> </a:t>
            </a:r>
            <a:r>
              <a:rPr lang="en-US" sz="2400">
                <a:solidFill>
                  <a:srgbClr val="2D01E9"/>
                </a:solidFill>
              </a:rPr>
              <a:t>int</a:t>
            </a:r>
            <a:r>
              <a:rPr lang="en-US" sz="2400"/>
              <a:t>[2][];</a:t>
            </a:r>
            <a:endParaRPr/>
          </a:p>
          <a:p>
            <a:pPr indent="-182880" lvl="1" marL="384048" rtl="0" algn="l">
              <a:lnSpc>
                <a:spcPct val="90000"/>
              </a:lnSpc>
              <a:spcBef>
                <a:spcPts val="600"/>
              </a:spcBef>
              <a:spcAft>
                <a:spcPts val="0"/>
              </a:spcAft>
              <a:buSzPts val="2400"/>
              <a:buNone/>
            </a:pPr>
            <a:r>
              <a:rPr lang="en-US" sz="2400"/>
              <a:t>jaggedArray[0] = </a:t>
            </a:r>
            <a:r>
              <a:rPr lang="en-US" sz="2400">
                <a:solidFill>
                  <a:srgbClr val="2D01E9"/>
                </a:solidFill>
              </a:rPr>
              <a:t>new</a:t>
            </a:r>
            <a:r>
              <a:rPr lang="en-US" sz="2400"/>
              <a:t> </a:t>
            </a:r>
            <a:r>
              <a:rPr lang="en-US" sz="2400">
                <a:solidFill>
                  <a:srgbClr val="2D01E9"/>
                </a:solidFill>
              </a:rPr>
              <a:t>int</a:t>
            </a:r>
            <a:r>
              <a:rPr lang="en-US" sz="2400"/>
              <a:t>[5]; </a:t>
            </a:r>
            <a:endParaRPr/>
          </a:p>
          <a:p>
            <a:pPr indent="-182880" lvl="1" marL="384048" rtl="0" algn="l">
              <a:lnSpc>
                <a:spcPct val="90000"/>
              </a:lnSpc>
              <a:spcBef>
                <a:spcPts val="600"/>
              </a:spcBef>
              <a:spcAft>
                <a:spcPts val="0"/>
              </a:spcAft>
              <a:buSzPts val="2400"/>
              <a:buNone/>
            </a:pPr>
            <a:r>
              <a:rPr lang="en-US" sz="2400"/>
              <a:t>jaggedArray[1] = </a:t>
            </a:r>
            <a:r>
              <a:rPr lang="en-US" sz="2400">
                <a:solidFill>
                  <a:srgbClr val="2D01E9"/>
                </a:solidFill>
              </a:rPr>
              <a:t>new</a:t>
            </a:r>
            <a:r>
              <a:rPr lang="en-US" sz="2400"/>
              <a:t> </a:t>
            </a:r>
            <a:r>
              <a:rPr lang="en-US" sz="2400">
                <a:solidFill>
                  <a:srgbClr val="2D01E9"/>
                </a:solidFill>
              </a:rPr>
              <a:t>int</a:t>
            </a:r>
            <a:r>
              <a:rPr lang="en-US" sz="2400"/>
              <a:t>[4];</a:t>
            </a:r>
            <a:endParaRPr/>
          </a:p>
          <a:p>
            <a:pPr indent="73819" lvl="1" marL="112514" rtl="0" algn="l">
              <a:lnSpc>
                <a:spcPct val="90000"/>
              </a:lnSpc>
              <a:spcBef>
                <a:spcPts val="600"/>
              </a:spcBef>
              <a:spcAft>
                <a:spcPts val="0"/>
              </a:spcAft>
              <a:buSzPts val="2400"/>
              <a:buFont typeface="Noto Sans Symbols"/>
              <a:buNone/>
            </a:pPr>
            <a:r>
              <a:t/>
            </a:r>
            <a:endParaRPr sz="2400"/>
          </a:p>
          <a:p>
            <a:pPr indent="0" lvl="0" marL="91440" rtl="0" algn="l">
              <a:lnSpc>
                <a:spcPct val="90000"/>
              </a:lnSpc>
              <a:spcBef>
                <a:spcPts val="1600"/>
              </a:spcBef>
              <a:spcAft>
                <a:spcPts val="0"/>
              </a:spcAft>
              <a:buSzPts val="2000"/>
              <a:buFont typeface="Noto Sans Symbols"/>
              <a:buNone/>
            </a:pPr>
            <a:r>
              <a:t/>
            </a:r>
            <a:endParaRPr/>
          </a:p>
          <a:p>
            <a:pPr indent="0" lvl="0" marL="91440" rtl="0" algn="l">
              <a:lnSpc>
                <a:spcPct val="90000"/>
              </a:lnSpc>
              <a:spcBef>
                <a:spcPts val="1400"/>
              </a:spcBef>
              <a:spcAft>
                <a:spcPts val="0"/>
              </a:spcAft>
              <a:buSzPts val="2000"/>
              <a:buNone/>
            </a:pPr>
            <a:r>
              <a:t/>
            </a:r>
            <a:endParaRPr/>
          </a:p>
        </p:txBody>
      </p:sp>
      <p:sp>
        <p:nvSpPr>
          <p:cNvPr id="181" name="Google Shape;181;p11"/>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2"/>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Structs</a:t>
            </a:r>
            <a:endParaRPr/>
          </a:p>
        </p:txBody>
      </p:sp>
      <p:sp>
        <p:nvSpPr>
          <p:cNvPr id="187" name="Google Shape;187;p12"/>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rmAutofit/>
          </a:bodyPr>
          <a:lstStyle/>
          <a:p>
            <a:pPr indent="-114300" lvl="0" marL="91440" rtl="0" algn="l">
              <a:lnSpc>
                <a:spcPct val="90000"/>
              </a:lnSpc>
              <a:spcBef>
                <a:spcPts val="0"/>
              </a:spcBef>
              <a:spcAft>
                <a:spcPts val="0"/>
              </a:spcAft>
              <a:buSzPts val="1800"/>
              <a:buChar char=" "/>
            </a:pPr>
            <a:r>
              <a:rPr lang="en-US" sz="1800"/>
              <a:t>A structure is a </a:t>
            </a:r>
            <a:r>
              <a:rPr b="1" lang="en-US" sz="1800"/>
              <a:t>value type</a:t>
            </a:r>
            <a:r>
              <a:rPr lang="en-US" sz="1800"/>
              <a:t> data type. </a:t>
            </a:r>
            <a:endParaRPr/>
          </a:p>
        </p:txBody>
      </p:sp>
      <p:sp>
        <p:nvSpPr>
          <p:cNvPr id="188" name="Google Shape;188;p12"/>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89" name="Google Shape;189;p12"/>
          <p:cNvPicPr preferRelativeResize="0"/>
          <p:nvPr/>
        </p:nvPicPr>
        <p:blipFill rotWithShape="1">
          <a:blip r:embed="rId3">
            <a:alphaModFix/>
          </a:blip>
          <a:srcRect b="0" l="0" r="0" t="0"/>
          <a:stretch/>
        </p:blipFill>
        <p:spPr>
          <a:xfrm>
            <a:off x="274319" y="2396040"/>
            <a:ext cx="3611885" cy="2175960"/>
          </a:xfrm>
          <a:prstGeom prst="rect">
            <a:avLst/>
          </a:prstGeom>
          <a:noFill/>
          <a:ln>
            <a:noFill/>
          </a:ln>
        </p:spPr>
      </p:pic>
      <p:pic>
        <p:nvPicPr>
          <p:cNvPr id="190" name="Google Shape;190;p12"/>
          <p:cNvPicPr preferRelativeResize="0"/>
          <p:nvPr/>
        </p:nvPicPr>
        <p:blipFill rotWithShape="1">
          <a:blip r:embed="rId4">
            <a:alphaModFix/>
          </a:blip>
          <a:srcRect b="0" l="0" r="0" t="0"/>
          <a:stretch/>
        </p:blipFill>
        <p:spPr>
          <a:xfrm>
            <a:off x="4114800" y="2396040"/>
            <a:ext cx="4800600" cy="293796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3"/>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Classes</a:t>
            </a:r>
            <a:endParaRPr/>
          </a:p>
        </p:txBody>
      </p:sp>
      <p:sp>
        <p:nvSpPr>
          <p:cNvPr id="196" name="Google Shape;196;p13"/>
          <p:cNvSpPr txBox="1"/>
          <p:nvPr>
            <p:ph idx="1" type="body"/>
          </p:nvPr>
        </p:nvSpPr>
        <p:spPr>
          <a:xfrm>
            <a:off x="822960" y="1981200"/>
            <a:ext cx="7863840" cy="4191000"/>
          </a:xfrm>
          <a:prstGeom prst="rect">
            <a:avLst/>
          </a:prstGeom>
          <a:noFill/>
          <a:ln>
            <a:noFill/>
          </a:ln>
        </p:spPr>
        <p:txBody>
          <a:bodyPr anchorCtr="0" anchor="t" bIns="45700" lIns="0" spcFirstLastPara="1" rIns="0" wrap="square" tIns="45700">
            <a:normAutofit fontScale="92500" lnSpcReduction="20000"/>
          </a:bodyPr>
          <a:lstStyle/>
          <a:p>
            <a:pPr indent="-164465" lvl="0" marL="91440" rtl="0" algn="l">
              <a:lnSpc>
                <a:spcPct val="90000"/>
              </a:lnSpc>
              <a:spcBef>
                <a:spcPts val="0"/>
              </a:spcBef>
              <a:spcAft>
                <a:spcPts val="0"/>
              </a:spcAft>
              <a:buSzPct val="100000"/>
              <a:buFont typeface="Noto Sans Symbols"/>
              <a:buChar char="▪"/>
            </a:pPr>
            <a:r>
              <a:rPr lang="en-US" sz="2800"/>
              <a:t>Classes are </a:t>
            </a:r>
            <a:r>
              <a:rPr b="1" lang="en-US" sz="2800"/>
              <a:t>reference types</a:t>
            </a:r>
            <a:endParaRPr/>
          </a:p>
          <a:p>
            <a:pPr indent="-164465" lvl="0" marL="91440" rtl="0" algn="l">
              <a:lnSpc>
                <a:spcPct val="90000"/>
              </a:lnSpc>
              <a:spcBef>
                <a:spcPts val="1400"/>
              </a:spcBef>
              <a:spcAft>
                <a:spcPts val="0"/>
              </a:spcAft>
              <a:buSzPct val="100000"/>
              <a:buFont typeface="Noto Sans Symbols"/>
              <a:buChar char="▪"/>
            </a:pPr>
            <a:r>
              <a:rPr lang="en-US" sz="2800"/>
              <a:t>Default access modifiers for the class members is </a:t>
            </a:r>
            <a:r>
              <a:rPr b="1" lang="en-US" sz="3600"/>
              <a:t>private</a:t>
            </a:r>
            <a:r>
              <a:rPr b="1" lang="en-US" sz="2800"/>
              <a:t>.</a:t>
            </a:r>
            <a:endParaRPr sz="2800"/>
          </a:p>
          <a:p>
            <a:pPr indent="-164465" lvl="0" marL="91440" rtl="0" algn="l">
              <a:lnSpc>
                <a:spcPct val="90000"/>
              </a:lnSpc>
              <a:spcBef>
                <a:spcPts val="1400"/>
              </a:spcBef>
              <a:spcAft>
                <a:spcPts val="0"/>
              </a:spcAft>
              <a:buSzPct val="100000"/>
              <a:buFont typeface="Noto Sans Symbols"/>
              <a:buChar char="▪"/>
            </a:pPr>
            <a:r>
              <a:rPr lang="en-US" sz="2800"/>
              <a:t>Access modifier should be specified for each class member, otherwise it takes the default.</a:t>
            </a:r>
            <a:endParaRPr/>
          </a:p>
          <a:p>
            <a:pPr indent="-164465" lvl="0" marL="91440" rtl="0" algn="l">
              <a:lnSpc>
                <a:spcPct val="90000"/>
              </a:lnSpc>
              <a:spcBef>
                <a:spcPts val="1400"/>
              </a:spcBef>
              <a:spcAft>
                <a:spcPts val="0"/>
              </a:spcAft>
              <a:buSzPct val="100000"/>
              <a:buFont typeface="Noto Sans Symbols"/>
              <a:buChar char="▪"/>
            </a:pPr>
            <a:r>
              <a:rPr lang="en-US" sz="2800"/>
              <a:t>Class objects must be created using </a:t>
            </a:r>
            <a:r>
              <a:rPr b="1" i="1" lang="en-US" sz="3600"/>
              <a:t>new</a:t>
            </a:r>
            <a:r>
              <a:rPr b="1" i="1" lang="en-US" sz="2800"/>
              <a:t> </a:t>
            </a:r>
            <a:r>
              <a:rPr lang="en-US" sz="2800"/>
              <a:t>operator.</a:t>
            </a:r>
            <a:endParaRPr/>
          </a:p>
          <a:p>
            <a:pPr indent="-164465" lvl="0" marL="91440" rtl="0" algn="l">
              <a:lnSpc>
                <a:spcPct val="90000"/>
              </a:lnSpc>
              <a:spcBef>
                <a:spcPts val="1400"/>
              </a:spcBef>
              <a:spcAft>
                <a:spcPts val="0"/>
              </a:spcAft>
              <a:buSzPct val="100000"/>
              <a:buFont typeface="Noto Sans Symbols"/>
              <a:buChar char="▪"/>
            </a:pPr>
            <a:r>
              <a:rPr lang="en-US" sz="2800"/>
              <a:t>A Class can only inherit </a:t>
            </a:r>
            <a:r>
              <a:rPr b="1" lang="en-US" sz="3600"/>
              <a:t>one</a:t>
            </a:r>
            <a:r>
              <a:rPr b="1" lang="en-US" sz="2800"/>
              <a:t> </a:t>
            </a:r>
            <a:r>
              <a:rPr lang="en-US" sz="2800"/>
              <a:t>class, but can itself be inherited by many classes.</a:t>
            </a:r>
            <a:endParaRPr/>
          </a:p>
          <a:p>
            <a:pPr indent="-164465" lvl="0" marL="91440" rtl="0" algn="l">
              <a:lnSpc>
                <a:spcPct val="90000"/>
              </a:lnSpc>
              <a:spcBef>
                <a:spcPts val="1400"/>
              </a:spcBef>
              <a:spcAft>
                <a:spcPts val="0"/>
              </a:spcAft>
              <a:buSzPct val="100000"/>
              <a:buFont typeface="Noto Sans Symbols"/>
              <a:buChar char="▪"/>
            </a:pPr>
            <a:r>
              <a:rPr lang="en-US" sz="2800"/>
              <a:t>C# allows </a:t>
            </a:r>
            <a:r>
              <a:rPr b="1" i="1" lang="en-US" sz="3600"/>
              <a:t>public</a:t>
            </a:r>
            <a:r>
              <a:rPr lang="en-US" sz="2800"/>
              <a:t> inheritance only. </a:t>
            </a:r>
            <a:endParaRPr/>
          </a:p>
          <a:p>
            <a:pPr indent="0" lvl="0" marL="91440" rtl="0" algn="l">
              <a:lnSpc>
                <a:spcPct val="90000"/>
              </a:lnSpc>
              <a:spcBef>
                <a:spcPts val="1400"/>
              </a:spcBef>
              <a:spcAft>
                <a:spcPts val="0"/>
              </a:spcAft>
              <a:buSzPct val="100000"/>
              <a:buNone/>
            </a:pPr>
            <a:r>
              <a:t/>
            </a:r>
            <a:endParaRPr sz="4000"/>
          </a:p>
        </p:txBody>
      </p:sp>
      <p:sp>
        <p:nvSpPr>
          <p:cNvPr id="197" name="Google Shape;197;p13"/>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4"/>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Classes</a:t>
            </a:r>
            <a:endParaRPr/>
          </a:p>
        </p:txBody>
      </p:sp>
      <p:sp>
        <p:nvSpPr>
          <p:cNvPr id="203" name="Google Shape;203;p14"/>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rmAutofit/>
          </a:bodyPr>
          <a:lstStyle/>
          <a:p>
            <a:pPr indent="0" lvl="0" marL="91440" rtl="0" algn="l">
              <a:lnSpc>
                <a:spcPct val="90000"/>
              </a:lnSpc>
              <a:spcBef>
                <a:spcPts val="0"/>
              </a:spcBef>
              <a:spcAft>
                <a:spcPts val="0"/>
              </a:spcAft>
              <a:buSzPts val="2000"/>
              <a:buNone/>
            </a:pPr>
            <a:r>
              <a:t/>
            </a:r>
            <a:endParaRPr/>
          </a:p>
        </p:txBody>
      </p:sp>
      <p:sp>
        <p:nvSpPr>
          <p:cNvPr id="204" name="Google Shape;204;p14"/>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05" name="Google Shape;205;p14"/>
          <p:cNvPicPr preferRelativeResize="0"/>
          <p:nvPr/>
        </p:nvPicPr>
        <p:blipFill rotWithShape="1">
          <a:blip r:embed="rId3">
            <a:alphaModFix/>
          </a:blip>
          <a:srcRect b="0" l="0" r="0" t="0"/>
          <a:stretch/>
        </p:blipFill>
        <p:spPr>
          <a:xfrm>
            <a:off x="865562" y="1845734"/>
            <a:ext cx="7543801" cy="440266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5"/>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Interfaces</a:t>
            </a:r>
            <a:endParaRPr/>
          </a:p>
        </p:txBody>
      </p:sp>
      <p:sp>
        <p:nvSpPr>
          <p:cNvPr id="212" name="Google Shape;212;p15"/>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rmAutofit fontScale="92500" lnSpcReduction="10000"/>
          </a:bodyPr>
          <a:lstStyle/>
          <a:p>
            <a:pPr indent="-164465" lvl="0" marL="126802" rtl="0" algn="just">
              <a:lnSpc>
                <a:spcPct val="103000"/>
              </a:lnSpc>
              <a:spcBef>
                <a:spcPts val="0"/>
              </a:spcBef>
              <a:spcAft>
                <a:spcPts val="0"/>
              </a:spcAft>
              <a:buSzPct val="100000"/>
              <a:buFont typeface="Noto Sans Symbols"/>
              <a:buChar char="▪"/>
            </a:pPr>
            <a:r>
              <a:rPr lang="en-US" sz="2800">
                <a:solidFill>
                  <a:srgbClr val="404040"/>
                </a:solidFill>
                <a:latin typeface="Calibri"/>
                <a:ea typeface="Calibri"/>
                <a:cs typeface="Calibri"/>
                <a:sym typeface="Calibri"/>
              </a:rPr>
              <a:t>An interface contains only the signatures of methods without implementation.</a:t>
            </a:r>
            <a:endParaRPr sz="1100">
              <a:solidFill>
                <a:srgbClr val="000000"/>
              </a:solidFill>
              <a:latin typeface="Calibri"/>
              <a:ea typeface="Calibri"/>
              <a:cs typeface="Calibri"/>
              <a:sym typeface="Calibri"/>
            </a:endParaRPr>
          </a:p>
          <a:p>
            <a:pPr indent="-164465" lvl="0" marL="126802" rtl="0" algn="l">
              <a:lnSpc>
                <a:spcPct val="107000"/>
              </a:lnSpc>
              <a:spcBef>
                <a:spcPts val="1878"/>
              </a:spcBef>
              <a:spcAft>
                <a:spcPts val="0"/>
              </a:spcAft>
              <a:buSzPct val="100000"/>
              <a:buFont typeface="Noto Sans Symbols"/>
              <a:buChar char="▪"/>
            </a:pPr>
            <a:r>
              <a:rPr lang="en-US" sz="2800">
                <a:solidFill>
                  <a:srgbClr val="404040"/>
                </a:solidFill>
                <a:latin typeface="Calibri"/>
                <a:ea typeface="Calibri"/>
                <a:cs typeface="Calibri"/>
                <a:sym typeface="Calibri"/>
              </a:rPr>
              <a:t>A class can </a:t>
            </a:r>
            <a:r>
              <a:rPr b="1" lang="en-US" sz="2800" u="sng">
                <a:solidFill>
                  <a:srgbClr val="404040"/>
                </a:solidFill>
                <a:latin typeface="Calibri"/>
                <a:ea typeface="Calibri"/>
                <a:cs typeface="Calibri"/>
                <a:sym typeface="Calibri"/>
              </a:rPr>
              <a:t>implement </a:t>
            </a:r>
            <a:r>
              <a:rPr lang="en-US" sz="2800">
                <a:solidFill>
                  <a:srgbClr val="FF0000"/>
                </a:solidFill>
                <a:latin typeface="Calibri"/>
                <a:ea typeface="Calibri"/>
                <a:cs typeface="Calibri"/>
                <a:sym typeface="Calibri"/>
              </a:rPr>
              <a:t>multiple interfaces.</a:t>
            </a:r>
            <a:endParaRPr sz="1100">
              <a:solidFill>
                <a:srgbClr val="000000"/>
              </a:solidFill>
              <a:latin typeface="Calibri"/>
              <a:ea typeface="Calibri"/>
              <a:cs typeface="Calibri"/>
              <a:sym typeface="Calibri"/>
            </a:endParaRPr>
          </a:p>
          <a:p>
            <a:pPr indent="-182880" lvl="1" marL="384048" rtl="0" algn="just">
              <a:lnSpc>
                <a:spcPct val="103000"/>
              </a:lnSpc>
              <a:spcBef>
                <a:spcPts val="200"/>
              </a:spcBef>
              <a:spcAft>
                <a:spcPts val="0"/>
              </a:spcAft>
              <a:buSzPct val="100000"/>
              <a:buFont typeface="Noto Sans Symbols"/>
              <a:buChar char="⮚"/>
            </a:pPr>
            <a:r>
              <a:rPr lang="en-US" sz="2400">
                <a:solidFill>
                  <a:srgbClr val="404040"/>
                </a:solidFill>
                <a:latin typeface="Calibri"/>
                <a:ea typeface="Calibri"/>
                <a:cs typeface="Calibri"/>
                <a:sym typeface="Calibri"/>
              </a:rPr>
              <a:t>A class that implements the interface </a:t>
            </a:r>
            <a:r>
              <a:rPr b="1" lang="en-US" sz="2400">
                <a:solidFill>
                  <a:srgbClr val="404040"/>
                </a:solidFill>
                <a:latin typeface="Calibri"/>
                <a:ea typeface="Calibri"/>
                <a:cs typeface="Calibri"/>
                <a:sym typeface="Calibri"/>
              </a:rPr>
              <a:t>must implement </a:t>
            </a:r>
            <a:r>
              <a:rPr lang="en-US" sz="2400">
                <a:solidFill>
                  <a:srgbClr val="404040"/>
                </a:solidFill>
                <a:latin typeface="Calibri"/>
                <a:ea typeface="Calibri"/>
                <a:cs typeface="Calibri"/>
                <a:sym typeface="Calibri"/>
              </a:rPr>
              <a:t>all the members of the interface specified in the interface definition.</a:t>
            </a:r>
            <a:endParaRPr sz="1100">
              <a:solidFill>
                <a:srgbClr val="000000"/>
              </a:solidFill>
              <a:latin typeface="Calibri"/>
              <a:ea typeface="Calibri"/>
              <a:cs typeface="Calibri"/>
              <a:sym typeface="Calibri"/>
            </a:endParaRPr>
          </a:p>
          <a:p>
            <a:pPr indent="-164465" lvl="0" marL="126802" rtl="0" algn="just">
              <a:lnSpc>
                <a:spcPct val="103000"/>
              </a:lnSpc>
              <a:spcBef>
                <a:spcPts val="1991"/>
              </a:spcBef>
              <a:spcAft>
                <a:spcPts val="0"/>
              </a:spcAft>
              <a:buSzPct val="100000"/>
              <a:buFont typeface="Noto Sans Symbols"/>
              <a:buChar char="▪"/>
            </a:pPr>
            <a:r>
              <a:rPr lang="en-US" sz="2800">
                <a:solidFill>
                  <a:srgbClr val="404040"/>
                </a:solidFill>
                <a:latin typeface="Calibri"/>
                <a:ea typeface="Calibri"/>
                <a:cs typeface="Calibri"/>
                <a:sym typeface="Calibri"/>
              </a:rPr>
              <a:t>You can </a:t>
            </a:r>
            <a:r>
              <a:rPr lang="en-US" sz="2800">
                <a:solidFill>
                  <a:srgbClr val="FF0000"/>
                </a:solidFill>
                <a:latin typeface="Calibri"/>
                <a:ea typeface="Calibri"/>
                <a:cs typeface="Calibri"/>
                <a:sym typeface="Calibri"/>
              </a:rPr>
              <a:t>implicitly cast </a:t>
            </a:r>
            <a:r>
              <a:rPr lang="en-US" sz="2800">
                <a:solidFill>
                  <a:srgbClr val="404040"/>
                </a:solidFill>
                <a:latin typeface="Calibri"/>
                <a:ea typeface="Calibri"/>
                <a:cs typeface="Calibri"/>
                <a:sym typeface="Calibri"/>
              </a:rPr>
              <a:t>an object to any interface that it implements.</a:t>
            </a:r>
            <a:endParaRPr sz="1100">
              <a:solidFill>
                <a:srgbClr val="000000"/>
              </a:solidFill>
              <a:latin typeface="Calibri"/>
              <a:ea typeface="Calibri"/>
              <a:cs typeface="Calibri"/>
              <a:sym typeface="Calibri"/>
            </a:endParaRPr>
          </a:p>
          <a:p>
            <a:pPr indent="-164465" lvl="0" marL="126802" rtl="0" algn="just">
              <a:lnSpc>
                <a:spcPct val="103000"/>
              </a:lnSpc>
              <a:spcBef>
                <a:spcPts val="1991"/>
              </a:spcBef>
              <a:spcAft>
                <a:spcPts val="0"/>
              </a:spcAft>
              <a:buSzPct val="100000"/>
              <a:buFont typeface="Noto Sans Symbols"/>
              <a:buChar char="▪"/>
            </a:pPr>
            <a:r>
              <a:rPr lang="en-US" sz="2800">
                <a:solidFill>
                  <a:srgbClr val="404040"/>
                </a:solidFill>
                <a:latin typeface="Calibri"/>
                <a:ea typeface="Calibri"/>
                <a:cs typeface="Calibri"/>
                <a:sym typeface="Calibri"/>
              </a:rPr>
              <a:t>Interfaces may </a:t>
            </a:r>
            <a:r>
              <a:rPr lang="en-US" sz="2800">
                <a:solidFill>
                  <a:srgbClr val="FF0000"/>
                </a:solidFill>
                <a:latin typeface="Calibri"/>
                <a:ea typeface="Calibri"/>
                <a:cs typeface="Calibri"/>
                <a:sym typeface="Calibri"/>
              </a:rPr>
              <a:t>derive from </a:t>
            </a:r>
            <a:r>
              <a:rPr lang="en-US" sz="2800">
                <a:solidFill>
                  <a:srgbClr val="404040"/>
                </a:solidFill>
                <a:latin typeface="Calibri"/>
                <a:ea typeface="Calibri"/>
                <a:cs typeface="Calibri"/>
                <a:sym typeface="Calibri"/>
              </a:rPr>
              <a:t>other interfaces.</a:t>
            </a:r>
            <a:endParaRPr sz="1100">
              <a:solidFill>
                <a:srgbClr val="000000"/>
              </a:solidFill>
              <a:latin typeface="Calibri"/>
              <a:ea typeface="Calibri"/>
              <a:cs typeface="Calibri"/>
              <a:sym typeface="Calibri"/>
            </a:endParaRPr>
          </a:p>
          <a:p>
            <a:pPr indent="0" lvl="0" marL="91440" rtl="0" algn="l">
              <a:lnSpc>
                <a:spcPct val="90000"/>
              </a:lnSpc>
              <a:spcBef>
                <a:spcPts val="1991"/>
              </a:spcBef>
              <a:spcAft>
                <a:spcPts val="0"/>
              </a:spcAft>
              <a:buSzPct val="100000"/>
              <a:buNone/>
            </a:pPr>
            <a:r>
              <a:t/>
            </a:r>
            <a:endParaRPr sz="4400"/>
          </a:p>
        </p:txBody>
      </p:sp>
      <p:sp>
        <p:nvSpPr>
          <p:cNvPr id="213" name="Google Shape;213;p15"/>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6"/>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Interfaces</a:t>
            </a:r>
            <a:endParaRPr/>
          </a:p>
        </p:txBody>
      </p:sp>
      <p:sp>
        <p:nvSpPr>
          <p:cNvPr id="219" name="Google Shape;219;p16"/>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pSp>
        <p:nvGrpSpPr>
          <p:cNvPr id="220" name="Google Shape;220;p16"/>
          <p:cNvGrpSpPr/>
          <p:nvPr/>
        </p:nvGrpSpPr>
        <p:grpSpPr>
          <a:xfrm>
            <a:off x="948811" y="1835218"/>
            <a:ext cx="8458627" cy="4343537"/>
            <a:chOff x="-373380" y="588082"/>
            <a:chExt cx="11582400" cy="4435349"/>
          </a:xfrm>
        </p:grpSpPr>
        <p:pic>
          <p:nvPicPr>
            <p:cNvPr id="221" name="Google Shape;221;p16"/>
            <p:cNvPicPr preferRelativeResize="0"/>
            <p:nvPr/>
          </p:nvPicPr>
          <p:blipFill rotWithShape="1">
            <a:blip r:embed="rId3">
              <a:alphaModFix/>
            </a:blip>
            <a:srcRect b="0" l="0" r="0" t="0"/>
            <a:stretch/>
          </p:blipFill>
          <p:spPr>
            <a:xfrm>
              <a:off x="3822192" y="588082"/>
              <a:ext cx="7386828" cy="4435349"/>
            </a:xfrm>
            <a:prstGeom prst="rect">
              <a:avLst/>
            </a:prstGeom>
            <a:noFill/>
            <a:ln>
              <a:noFill/>
            </a:ln>
          </p:spPr>
        </p:pic>
        <p:pic>
          <p:nvPicPr>
            <p:cNvPr id="222" name="Google Shape;222;p16"/>
            <p:cNvPicPr preferRelativeResize="0"/>
            <p:nvPr/>
          </p:nvPicPr>
          <p:blipFill rotWithShape="1">
            <a:blip r:embed="rId4">
              <a:alphaModFix/>
            </a:blip>
            <a:srcRect b="0" l="0" r="0" t="0"/>
            <a:stretch/>
          </p:blipFill>
          <p:spPr>
            <a:xfrm>
              <a:off x="-373380" y="1108201"/>
              <a:ext cx="4282440" cy="1450923"/>
            </a:xfrm>
            <a:prstGeom prst="rect">
              <a:avLst/>
            </a:prstGeom>
            <a:noFill/>
            <a:ln>
              <a:noFill/>
            </a:ln>
          </p:spPr>
        </p:pic>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17"/>
          <p:cNvSpPr txBox="1"/>
          <p:nvPr>
            <p:ph type="title"/>
          </p:nvPr>
        </p:nvSpPr>
        <p:spPr>
          <a:xfrm>
            <a:off x="822960" y="286604"/>
            <a:ext cx="763524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Looping &amp; Conditional Statements</a:t>
            </a:r>
            <a:endParaRPr/>
          </a:p>
        </p:txBody>
      </p:sp>
      <p:sp>
        <p:nvSpPr>
          <p:cNvPr id="228" name="Google Shape;228;p17"/>
          <p:cNvSpPr txBox="1"/>
          <p:nvPr>
            <p:ph idx="1" type="body"/>
          </p:nvPr>
        </p:nvSpPr>
        <p:spPr>
          <a:xfrm>
            <a:off x="822960" y="1981200"/>
            <a:ext cx="8321039" cy="2820353"/>
          </a:xfrm>
          <a:prstGeom prst="rect">
            <a:avLst/>
          </a:prstGeom>
          <a:noFill/>
          <a:ln>
            <a:noFill/>
          </a:ln>
        </p:spPr>
        <p:txBody>
          <a:bodyPr anchorCtr="0" anchor="t" bIns="45700" lIns="0" spcFirstLastPara="1" rIns="0" wrap="square" tIns="45700">
            <a:normAutofit/>
          </a:bodyPr>
          <a:lstStyle/>
          <a:p>
            <a:pPr indent="-152400" lvl="0" marL="91440" rtl="0" algn="l">
              <a:lnSpc>
                <a:spcPct val="90000"/>
              </a:lnSpc>
              <a:spcBef>
                <a:spcPts val="0"/>
              </a:spcBef>
              <a:spcAft>
                <a:spcPts val="0"/>
              </a:spcAft>
              <a:buSzPts val="2400"/>
              <a:buChar char=" "/>
            </a:pPr>
            <a:r>
              <a:rPr lang="en-US" sz="2400"/>
              <a:t>Foreach: </a:t>
            </a:r>
            <a:endParaRPr/>
          </a:p>
          <a:p>
            <a:pPr indent="-182880" lvl="1" marL="384048" rtl="0" algn="l">
              <a:lnSpc>
                <a:spcPct val="90000"/>
              </a:lnSpc>
              <a:spcBef>
                <a:spcPts val="400"/>
              </a:spcBef>
              <a:spcAft>
                <a:spcPts val="0"/>
              </a:spcAft>
              <a:buSzPts val="2200"/>
              <a:buNone/>
            </a:pPr>
            <a:r>
              <a:rPr lang="en-US" sz="2200">
                <a:solidFill>
                  <a:srgbClr val="0070C0"/>
                </a:solidFill>
                <a:latin typeface="Lucida Sans"/>
                <a:ea typeface="Lucida Sans"/>
                <a:cs typeface="Lucida Sans"/>
                <a:sym typeface="Lucida Sans"/>
              </a:rPr>
              <a:t>int [] numbers = {4, 5, 6, 1, 2, 3, -2, -1, 0}; </a:t>
            </a:r>
            <a:endParaRPr/>
          </a:p>
          <a:p>
            <a:pPr indent="-182880" lvl="1" marL="384048" rtl="0" algn="l">
              <a:lnSpc>
                <a:spcPct val="90000"/>
              </a:lnSpc>
              <a:spcBef>
                <a:spcPts val="600"/>
              </a:spcBef>
              <a:spcAft>
                <a:spcPts val="0"/>
              </a:spcAft>
              <a:buSzPts val="2200"/>
              <a:buNone/>
            </a:pPr>
            <a:r>
              <a:rPr lang="en-US" sz="2200">
                <a:solidFill>
                  <a:srgbClr val="0070C0"/>
                </a:solidFill>
                <a:latin typeface="Lucida Sans"/>
                <a:ea typeface="Lucida Sans"/>
                <a:cs typeface="Lucida Sans"/>
                <a:sym typeface="Lucida Sans"/>
              </a:rPr>
              <a:t>foreach (int i in numbers) { </a:t>
            </a:r>
            <a:endParaRPr/>
          </a:p>
          <a:p>
            <a:pPr indent="-182880" lvl="1" marL="384048" rtl="0" algn="l">
              <a:lnSpc>
                <a:spcPct val="90000"/>
              </a:lnSpc>
              <a:spcBef>
                <a:spcPts val="600"/>
              </a:spcBef>
              <a:spcAft>
                <a:spcPts val="0"/>
              </a:spcAft>
              <a:buSzPts val="2200"/>
              <a:buNone/>
            </a:pPr>
            <a:r>
              <a:rPr lang="en-US" sz="2200">
                <a:solidFill>
                  <a:srgbClr val="0070C0"/>
                </a:solidFill>
                <a:latin typeface="Lucida Sans"/>
                <a:ea typeface="Lucida Sans"/>
                <a:cs typeface="Lucida Sans"/>
                <a:sym typeface="Lucida Sans"/>
              </a:rPr>
              <a:t>	…</a:t>
            </a:r>
            <a:endParaRPr/>
          </a:p>
          <a:p>
            <a:pPr indent="-182880" lvl="1" marL="384048" rtl="0" algn="l">
              <a:lnSpc>
                <a:spcPct val="90000"/>
              </a:lnSpc>
              <a:spcBef>
                <a:spcPts val="600"/>
              </a:spcBef>
              <a:spcAft>
                <a:spcPts val="0"/>
              </a:spcAft>
              <a:buSzPts val="2200"/>
              <a:buNone/>
            </a:pPr>
            <a:r>
              <a:rPr lang="en-US" sz="2200">
                <a:solidFill>
                  <a:srgbClr val="0070C0"/>
                </a:solidFill>
                <a:latin typeface="Lucida Sans"/>
                <a:ea typeface="Lucida Sans"/>
                <a:cs typeface="Lucida Sans"/>
                <a:sym typeface="Lucida Sans"/>
              </a:rPr>
              <a:t>}</a:t>
            </a:r>
            <a:endParaRPr/>
          </a:p>
          <a:p>
            <a:pPr indent="-152400" lvl="0" marL="91440" rtl="0" algn="l">
              <a:lnSpc>
                <a:spcPct val="90000"/>
              </a:lnSpc>
              <a:spcBef>
                <a:spcPts val="1600"/>
              </a:spcBef>
              <a:spcAft>
                <a:spcPts val="0"/>
              </a:spcAft>
              <a:buSzPts val="2400"/>
              <a:buChar char=" "/>
            </a:pPr>
            <a:r>
              <a:rPr lang="en-US" sz="2400"/>
              <a:t>While, do while, for, if, else 🡪 all are the same as C++ </a:t>
            </a:r>
            <a:endParaRPr sz="24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18"/>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Console I/O</a:t>
            </a:r>
            <a:endParaRPr/>
          </a:p>
        </p:txBody>
      </p:sp>
      <p:sp>
        <p:nvSpPr>
          <p:cNvPr id="234" name="Google Shape;234;p18"/>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rmAutofit/>
          </a:bodyPr>
          <a:lstStyle/>
          <a:p>
            <a:pPr indent="-152400" lvl="0" marL="91440" rtl="0" algn="l">
              <a:lnSpc>
                <a:spcPct val="90000"/>
              </a:lnSpc>
              <a:spcBef>
                <a:spcPts val="0"/>
              </a:spcBef>
              <a:spcAft>
                <a:spcPts val="0"/>
              </a:spcAft>
              <a:buSzPts val="2400"/>
              <a:buFont typeface="Noto Sans Symbols"/>
              <a:buChar char="⮚"/>
            </a:pPr>
            <a:r>
              <a:rPr lang="en-US" sz="2400"/>
              <a:t>To write something to Console</a:t>
            </a:r>
            <a:endParaRPr/>
          </a:p>
          <a:p>
            <a:pPr indent="0" lvl="1" marL="154305" rtl="0" algn="l">
              <a:lnSpc>
                <a:spcPct val="90000"/>
              </a:lnSpc>
              <a:spcBef>
                <a:spcPts val="400"/>
              </a:spcBef>
              <a:spcAft>
                <a:spcPts val="0"/>
              </a:spcAft>
              <a:buSzPts val="3200"/>
              <a:buNone/>
            </a:pPr>
            <a:r>
              <a:rPr lang="en-US" sz="3200">
                <a:solidFill>
                  <a:srgbClr val="0070C0"/>
                </a:solidFill>
                <a:latin typeface="Lucida Sans"/>
                <a:ea typeface="Lucida Sans"/>
                <a:cs typeface="Lucida Sans"/>
                <a:sym typeface="Lucida Sans"/>
              </a:rPr>
              <a:t>Console.WriteLine(“Hello”);</a:t>
            </a:r>
            <a:endParaRPr/>
          </a:p>
          <a:p>
            <a:pPr indent="0" lvl="1" marL="154305" rtl="0" algn="l">
              <a:lnSpc>
                <a:spcPct val="90000"/>
              </a:lnSpc>
              <a:spcBef>
                <a:spcPts val="600"/>
              </a:spcBef>
              <a:spcAft>
                <a:spcPts val="0"/>
              </a:spcAft>
              <a:buSzPts val="3200"/>
              <a:buNone/>
            </a:pPr>
            <a:r>
              <a:t/>
            </a:r>
            <a:endParaRPr sz="3200">
              <a:solidFill>
                <a:srgbClr val="0070C0"/>
              </a:solidFill>
              <a:latin typeface="Lucida Sans"/>
              <a:ea typeface="Lucida Sans"/>
              <a:cs typeface="Lucida Sans"/>
              <a:sym typeface="Lucida Sans"/>
            </a:endParaRPr>
          </a:p>
          <a:p>
            <a:pPr indent="-152400" lvl="0" marL="91440" rtl="0" algn="l">
              <a:lnSpc>
                <a:spcPct val="90000"/>
              </a:lnSpc>
              <a:spcBef>
                <a:spcPts val="1600"/>
              </a:spcBef>
              <a:spcAft>
                <a:spcPts val="0"/>
              </a:spcAft>
              <a:buSzPts val="2400"/>
              <a:buFont typeface="Noto Sans Symbols"/>
              <a:buChar char="⮚"/>
            </a:pPr>
            <a:r>
              <a:rPr lang="en-US" sz="2400"/>
              <a:t>To read something from Console</a:t>
            </a:r>
            <a:endParaRPr/>
          </a:p>
          <a:p>
            <a:pPr indent="0" lvl="1" marL="154305" rtl="0" algn="l">
              <a:lnSpc>
                <a:spcPct val="90000"/>
              </a:lnSpc>
              <a:spcBef>
                <a:spcPts val="400"/>
              </a:spcBef>
              <a:spcAft>
                <a:spcPts val="0"/>
              </a:spcAft>
              <a:buSzPts val="3200"/>
              <a:buNone/>
            </a:pPr>
            <a:r>
              <a:rPr lang="en-US" sz="3200">
                <a:solidFill>
                  <a:srgbClr val="0070C0"/>
                </a:solidFill>
                <a:latin typeface="Lucida Sans"/>
                <a:ea typeface="Lucida Sans"/>
                <a:cs typeface="Lucida Sans"/>
                <a:sym typeface="Lucida Sans"/>
              </a:rPr>
              <a:t>Console.ReadLine();</a:t>
            </a:r>
            <a:endParaRPr/>
          </a:p>
          <a:p>
            <a:pPr indent="0" lvl="1" marL="154305" rtl="0" algn="l">
              <a:lnSpc>
                <a:spcPct val="90000"/>
              </a:lnSpc>
              <a:spcBef>
                <a:spcPts val="600"/>
              </a:spcBef>
              <a:spcAft>
                <a:spcPts val="0"/>
              </a:spcAft>
              <a:buSzPts val="1800"/>
              <a:buNone/>
            </a:pPr>
            <a:r>
              <a:t/>
            </a:r>
            <a:endParaRPr>
              <a:solidFill>
                <a:srgbClr val="0070C0"/>
              </a:solidFill>
              <a:latin typeface="Lucida Sans"/>
              <a:ea typeface="Lucida Sans"/>
              <a:cs typeface="Lucida Sans"/>
              <a:sym typeface="Lucida Sans"/>
            </a:endParaRPr>
          </a:p>
          <a:p>
            <a:pPr indent="-127000" lvl="0" marL="91440" rtl="0" algn="l">
              <a:lnSpc>
                <a:spcPct val="90000"/>
              </a:lnSpc>
              <a:spcBef>
                <a:spcPts val="1600"/>
              </a:spcBef>
              <a:spcAft>
                <a:spcPts val="0"/>
              </a:spcAft>
              <a:buSzPts val="2000"/>
              <a:buChar char=" "/>
            </a:pPr>
            <a:r>
              <a:rPr lang="en-US"/>
              <a:t>Note:</a:t>
            </a:r>
            <a:r>
              <a:rPr lang="en-US" sz="3600"/>
              <a:t> </a:t>
            </a:r>
            <a:r>
              <a:rPr lang="en-US" sz="3600">
                <a:solidFill>
                  <a:srgbClr val="0070C0"/>
                </a:solidFill>
                <a:latin typeface="Lucida Sans"/>
                <a:ea typeface="Lucida Sans"/>
                <a:cs typeface="Lucida Sans"/>
                <a:sym typeface="Lucida Sans"/>
              </a:rPr>
              <a:t>Convert.ToInt32(),..etc.</a:t>
            </a:r>
            <a:endParaRPr sz="3600"/>
          </a:p>
        </p:txBody>
      </p:sp>
      <p:sp>
        <p:nvSpPr>
          <p:cNvPr id="235" name="Google Shape;235;p18"/>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19"/>
          <p:cNvSpPr txBox="1"/>
          <p:nvPr>
            <p:ph type="title"/>
          </p:nvPr>
        </p:nvSpPr>
        <p:spPr>
          <a:xfrm>
            <a:off x="822960" y="286604"/>
            <a:ext cx="794004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GUI (Event-based) Programming</a:t>
            </a:r>
            <a:endParaRPr/>
          </a:p>
        </p:txBody>
      </p:sp>
      <p:sp>
        <p:nvSpPr>
          <p:cNvPr id="241" name="Google Shape;241;p19"/>
          <p:cNvSpPr txBox="1"/>
          <p:nvPr>
            <p:ph idx="1" type="body"/>
          </p:nvPr>
        </p:nvSpPr>
        <p:spPr>
          <a:xfrm>
            <a:off x="990600" y="1905000"/>
            <a:ext cx="7543800" cy="3962400"/>
          </a:xfrm>
          <a:prstGeom prst="rect">
            <a:avLst/>
          </a:prstGeom>
          <a:noFill/>
          <a:ln>
            <a:noFill/>
          </a:ln>
        </p:spPr>
        <p:txBody>
          <a:bodyPr anchorCtr="0" anchor="t" bIns="45700" lIns="0" spcFirstLastPara="1" rIns="0" wrap="square" tIns="45700">
            <a:normAutofit fontScale="92500"/>
          </a:bodyPr>
          <a:lstStyle/>
          <a:p>
            <a:pPr indent="-140970" lvl="0" marL="91440" rtl="0" algn="l">
              <a:lnSpc>
                <a:spcPct val="90000"/>
              </a:lnSpc>
              <a:spcBef>
                <a:spcPts val="0"/>
              </a:spcBef>
              <a:spcAft>
                <a:spcPts val="0"/>
              </a:spcAft>
              <a:buSzPct val="100000"/>
              <a:buFont typeface="Noto Sans Symbols"/>
              <a:buChar char="▪"/>
            </a:pPr>
            <a:r>
              <a:rPr lang="en-US" sz="2400"/>
              <a:t>The interface for a C# program consists of one or more </a:t>
            </a:r>
            <a:r>
              <a:rPr b="1" lang="en-US" sz="2400"/>
              <a:t>forms</a:t>
            </a:r>
            <a:r>
              <a:rPr lang="en-US" sz="2400"/>
              <a:t>, containing one or more </a:t>
            </a:r>
            <a:r>
              <a:rPr b="1" lang="en-US" sz="2400"/>
              <a:t>controls</a:t>
            </a:r>
            <a:r>
              <a:rPr lang="en-US" sz="2400"/>
              <a:t> (screen objects).</a:t>
            </a:r>
            <a:endParaRPr/>
          </a:p>
          <a:p>
            <a:pPr indent="-140970" lvl="0" marL="91440" rtl="0" algn="l">
              <a:lnSpc>
                <a:spcPct val="90000"/>
              </a:lnSpc>
              <a:spcBef>
                <a:spcPts val="1400"/>
              </a:spcBef>
              <a:spcAft>
                <a:spcPts val="0"/>
              </a:spcAft>
              <a:buSzPct val="100000"/>
              <a:buFont typeface="Noto Sans Symbols"/>
              <a:buChar char="▪"/>
            </a:pPr>
            <a:r>
              <a:rPr b="1" lang="en-US" sz="2400"/>
              <a:t>Form and controls </a:t>
            </a:r>
            <a:r>
              <a:rPr lang="en-US" sz="2400"/>
              <a:t>have </a:t>
            </a:r>
            <a:r>
              <a:rPr b="1" lang="en-US" sz="2400"/>
              <a:t>events</a:t>
            </a:r>
            <a:r>
              <a:rPr lang="en-US" sz="2400"/>
              <a:t> that can respond to.  </a:t>
            </a:r>
            <a:endParaRPr/>
          </a:p>
          <a:p>
            <a:pPr indent="-140970" lvl="0" marL="91440" rtl="0" algn="l">
              <a:lnSpc>
                <a:spcPct val="90000"/>
              </a:lnSpc>
              <a:spcBef>
                <a:spcPts val="1400"/>
              </a:spcBef>
              <a:spcAft>
                <a:spcPts val="0"/>
              </a:spcAft>
              <a:buSzPct val="100000"/>
              <a:buFont typeface="Noto Sans Symbols"/>
              <a:buChar char="▪"/>
            </a:pPr>
            <a:r>
              <a:rPr lang="en-US" sz="2400"/>
              <a:t>Typical events include </a:t>
            </a:r>
            <a:r>
              <a:rPr lang="en-US" sz="2400">
                <a:solidFill>
                  <a:schemeClr val="accent2"/>
                </a:solidFill>
              </a:rPr>
              <a:t>clicking a mouse button</a:t>
            </a:r>
            <a:r>
              <a:rPr lang="en-US" sz="2400"/>
              <a:t>, </a:t>
            </a:r>
            <a:r>
              <a:rPr lang="en-US" sz="2400">
                <a:solidFill>
                  <a:schemeClr val="accent2"/>
                </a:solidFill>
              </a:rPr>
              <a:t>typing a character </a:t>
            </a:r>
            <a:r>
              <a:rPr lang="en-US" sz="2400"/>
              <a:t>on the keyboard, </a:t>
            </a:r>
            <a:r>
              <a:rPr lang="en-US" sz="2400">
                <a:solidFill>
                  <a:schemeClr val="accent2"/>
                </a:solidFill>
              </a:rPr>
              <a:t>selecting an item from a combobox</a:t>
            </a:r>
            <a:r>
              <a:rPr lang="en-US" sz="2400"/>
              <a:t>, …etc.</a:t>
            </a:r>
            <a:endParaRPr/>
          </a:p>
          <a:p>
            <a:pPr indent="0" lvl="0" marL="0" rtl="0" algn="l">
              <a:lnSpc>
                <a:spcPct val="90000"/>
              </a:lnSpc>
              <a:spcBef>
                <a:spcPts val="1400"/>
              </a:spcBef>
              <a:spcAft>
                <a:spcPts val="0"/>
              </a:spcAft>
              <a:buSzPct val="100000"/>
              <a:buNone/>
            </a:pPr>
            <a:r>
              <a:rPr lang="en-US" sz="2400"/>
              <a:t>So, the three key pieces for </a:t>
            </a:r>
            <a:r>
              <a:rPr b="1" lang="en-US" sz="2400"/>
              <a:t>GUI programming</a:t>
            </a:r>
            <a:r>
              <a:rPr lang="en-US" sz="2400"/>
              <a:t> are:</a:t>
            </a:r>
            <a:endParaRPr/>
          </a:p>
          <a:p>
            <a:pPr indent="-140970" lvl="0" marL="91440" rtl="0" algn="l">
              <a:lnSpc>
                <a:spcPct val="90000"/>
              </a:lnSpc>
              <a:spcBef>
                <a:spcPts val="1400"/>
              </a:spcBef>
              <a:spcAft>
                <a:spcPts val="0"/>
              </a:spcAft>
              <a:buSzPct val="100000"/>
              <a:buFont typeface="Noto Sans Symbols"/>
              <a:buChar char="▪"/>
            </a:pPr>
            <a:r>
              <a:rPr lang="en-US" sz="2400"/>
              <a:t>Forms</a:t>
            </a:r>
            <a:endParaRPr/>
          </a:p>
          <a:p>
            <a:pPr indent="-140970" lvl="0" marL="91440" rtl="0" algn="l">
              <a:lnSpc>
                <a:spcPct val="90000"/>
              </a:lnSpc>
              <a:spcBef>
                <a:spcPts val="1400"/>
              </a:spcBef>
              <a:spcAft>
                <a:spcPts val="0"/>
              </a:spcAft>
              <a:buSzPct val="100000"/>
              <a:buFont typeface="Noto Sans Symbols"/>
              <a:buChar char="▪"/>
            </a:pPr>
            <a:r>
              <a:rPr lang="en-US" sz="2400"/>
              <a:t>Controls</a:t>
            </a:r>
            <a:endParaRPr/>
          </a:p>
          <a:p>
            <a:pPr indent="-140970" lvl="0" marL="91440" rtl="0" algn="l">
              <a:lnSpc>
                <a:spcPct val="90000"/>
              </a:lnSpc>
              <a:spcBef>
                <a:spcPts val="1400"/>
              </a:spcBef>
              <a:spcAft>
                <a:spcPts val="0"/>
              </a:spcAft>
              <a:buSzPct val="100000"/>
              <a:buFont typeface="Noto Sans Symbols"/>
              <a:buChar char="▪"/>
            </a:pPr>
            <a:r>
              <a:rPr lang="en-US" sz="2400"/>
              <a:t>Events</a:t>
            </a:r>
            <a:endParaRPr/>
          </a:p>
          <a:p>
            <a:pPr indent="0" lvl="0" marL="0" rtl="0" algn="l">
              <a:lnSpc>
                <a:spcPct val="90000"/>
              </a:lnSpc>
              <a:spcBef>
                <a:spcPts val="1400"/>
              </a:spcBef>
              <a:spcAft>
                <a:spcPts val="0"/>
              </a:spcAft>
              <a:buSzPct val="100000"/>
              <a:buNone/>
            </a:pPr>
            <a:r>
              <a:t/>
            </a:r>
            <a:endParaRPr/>
          </a:p>
        </p:txBody>
      </p:sp>
      <p:sp>
        <p:nvSpPr>
          <p:cNvPr id="242" name="Google Shape;242;p19"/>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0"/>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Forms</a:t>
            </a:r>
            <a:endParaRPr/>
          </a:p>
        </p:txBody>
      </p:sp>
      <p:sp>
        <p:nvSpPr>
          <p:cNvPr id="248" name="Google Shape;248;p20"/>
          <p:cNvSpPr txBox="1"/>
          <p:nvPr>
            <p:ph idx="1" type="body"/>
          </p:nvPr>
        </p:nvSpPr>
        <p:spPr>
          <a:xfrm>
            <a:off x="628653" y="1737363"/>
            <a:ext cx="7543799" cy="4511037"/>
          </a:xfrm>
          <a:prstGeom prst="rect">
            <a:avLst/>
          </a:prstGeom>
          <a:noFill/>
          <a:ln>
            <a:noFill/>
          </a:ln>
        </p:spPr>
        <p:txBody>
          <a:bodyPr anchorCtr="0" anchor="t" bIns="45700" lIns="0" spcFirstLastPara="1" rIns="0" wrap="square" tIns="45700">
            <a:normAutofit fontScale="92500"/>
          </a:bodyPr>
          <a:lstStyle/>
          <a:p>
            <a:pPr indent="-164465" lvl="0" marL="91440" rtl="0" algn="l">
              <a:lnSpc>
                <a:spcPct val="90000"/>
              </a:lnSpc>
              <a:spcBef>
                <a:spcPts val="0"/>
              </a:spcBef>
              <a:spcAft>
                <a:spcPts val="0"/>
              </a:spcAft>
              <a:buSzPct val="100000"/>
              <a:buFont typeface="Noto Sans Symbols"/>
              <a:buChar char="▪"/>
            </a:pPr>
            <a:r>
              <a:rPr lang="en-US" sz="2800"/>
              <a:t>Forms are inherited from </a:t>
            </a:r>
            <a:r>
              <a:rPr lang="en-US" sz="2800">
                <a:solidFill>
                  <a:srgbClr val="2D01E9"/>
                </a:solidFill>
              </a:rPr>
              <a:t>System.Windows.Forms.Form </a:t>
            </a:r>
            <a:r>
              <a:rPr lang="en-US" sz="2800"/>
              <a:t>class.</a:t>
            </a:r>
            <a:endParaRPr/>
          </a:p>
          <a:p>
            <a:pPr indent="-164465" lvl="0" marL="91440" rtl="0" algn="l">
              <a:lnSpc>
                <a:spcPct val="90000"/>
              </a:lnSpc>
              <a:spcBef>
                <a:spcPts val="1400"/>
              </a:spcBef>
              <a:spcAft>
                <a:spcPts val="0"/>
              </a:spcAft>
              <a:buSzPct val="100000"/>
              <a:buFont typeface="Noto Sans Symbols"/>
              <a:buChar char="▪"/>
            </a:pPr>
            <a:r>
              <a:rPr lang="en-US" sz="2800"/>
              <a:t>A </a:t>
            </a:r>
            <a:r>
              <a:rPr b="1" lang="en-US" sz="2800"/>
              <a:t>form</a:t>
            </a:r>
            <a:r>
              <a:rPr lang="en-US" sz="2800"/>
              <a:t> represents a </a:t>
            </a:r>
            <a:r>
              <a:rPr b="1" lang="en-US" sz="2800"/>
              <a:t>window</a:t>
            </a:r>
            <a:r>
              <a:rPr lang="en-US" sz="2800"/>
              <a:t>, it contains some </a:t>
            </a:r>
            <a:r>
              <a:rPr b="1" lang="en-US" sz="2800"/>
              <a:t>controls</a:t>
            </a:r>
            <a:r>
              <a:rPr lang="en-US" sz="2800"/>
              <a:t> to receive user’s </a:t>
            </a:r>
            <a:r>
              <a:rPr i="1" lang="en-US" sz="2800"/>
              <a:t>inputs</a:t>
            </a:r>
            <a:r>
              <a:rPr lang="en-US" sz="2800"/>
              <a:t> and display </a:t>
            </a:r>
            <a:r>
              <a:rPr i="1" lang="en-US" sz="2800"/>
              <a:t>outputs</a:t>
            </a:r>
            <a:r>
              <a:rPr lang="en-US" sz="2800"/>
              <a:t>.</a:t>
            </a:r>
            <a:endParaRPr/>
          </a:p>
          <a:p>
            <a:pPr indent="-164465" lvl="0" marL="91440" rtl="0" algn="l">
              <a:lnSpc>
                <a:spcPct val="90000"/>
              </a:lnSpc>
              <a:spcBef>
                <a:spcPts val="1400"/>
              </a:spcBef>
              <a:spcAft>
                <a:spcPts val="0"/>
              </a:spcAft>
              <a:buSzPct val="100000"/>
              <a:buFont typeface="Noto Sans Symbols"/>
              <a:buChar char="▪"/>
            </a:pPr>
            <a:r>
              <a:rPr lang="en-US" sz="2800"/>
              <a:t>You can either create them from GUI or using code.</a:t>
            </a:r>
            <a:endParaRPr/>
          </a:p>
          <a:p>
            <a:pPr indent="-182880" lvl="1" marL="384048" rtl="0" algn="l">
              <a:lnSpc>
                <a:spcPct val="90000"/>
              </a:lnSpc>
              <a:spcBef>
                <a:spcPts val="400"/>
              </a:spcBef>
              <a:spcAft>
                <a:spcPts val="0"/>
              </a:spcAft>
              <a:buSzPct val="100000"/>
              <a:buFont typeface="Noto Sans Symbols"/>
              <a:buChar char="⮚"/>
            </a:pPr>
            <a:r>
              <a:rPr lang="en-US" sz="2400"/>
              <a:t>Using GUI: </a:t>
            </a:r>
            <a:endParaRPr/>
          </a:p>
          <a:p>
            <a:pPr indent="0" lvl="1" marL="113157" rtl="0" algn="l">
              <a:lnSpc>
                <a:spcPct val="90000"/>
              </a:lnSpc>
              <a:spcBef>
                <a:spcPts val="600"/>
              </a:spcBef>
              <a:spcAft>
                <a:spcPts val="0"/>
              </a:spcAft>
              <a:buSzPct val="100000"/>
              <a:buNone/>
            </a:pPr>
            <a:r>
              <a:rPr lang="en-US" sz="2400"/>
              <a:t>   In solution explorer, Right click on the solution, then click add new item, and  choose Windows Form.</a:t>
            </a:r>
            <a:endParaRPr/>
          </a:p>
          <a:p>
            <a:pPr indent="-182880" lvl="1" marL="384048" rtl="0" algn="l">
              <a:lnSpc>
                <a:spcPct val="90000"/>
              </a:lnSpc>
              <a:spcBef>
                <a:spcPts val="600"/>
              </a:spcBef>
              <a:spcAft>
                <a:spcPts val="0"/>
              </a:spcAft>
              <a:buSzPct val="100000"/>
              <a:buFont typeface="Noto Sans Symbols"/>
              <a:buChar char="⮚"/>
            </a:pPr>
            <a:r>
              <a:rPr lang="en-US" sz="2400"/>
              <a:t>Using Code:</a:t>
            </a:r>
            <a:endParaRPr/>
          </a:p>
          <a:p>
            <a:pPr indent="0" lvl="1" marL="113157" rtl="0" algn="l">
              <a:lnSpc>
                <a:spcPct val="90000"/>
              </a:lnSpc>
              <a:spcBef>
                <a:spcPts val="600"/>
              </a:spcBef>
              <a:spcAft>
                <a:spcPts val="0"/>
              </a:spcAft>
              <a:buSzPct val="100000"/>
              <a:buNone/>
            </a:pPr>
            <a:r>
              <a:rPr lang="en-US" sz="2400"/>
              <a:t>   </a:t>
            </a:r>
            <a:r>
              <a:rPr lang="en-US" sz="2400">
                <a:solidFill>
                  <a:srgbClr val="2D01E9"/>
                </a:solidFill>
              </a:rPr>
              <a:t>Form f = new Form();</a:t>
            </a:r>
            <a:r>
              <a:rPr lang="en-US" sz="2400"/>
              <a:t>// create a new form </a:t>
            </a:r>
            <a:endParaRPr/>
          </a:p>
          <a:p>
            <a:pPr indent="0" lvl="1" marL="113157" rtl="0" algn="l">
              <a:lnSpc>
                <a:spcPct val="90000"/>
              </a:lnSpc>
              <a:spcBef>
                <a:spcPts val="600"/>
              </a:spcBef>
              <a:spcAft>
                <a:spcPts val="0"/>
              </a:spcAft>
              <a:buSzPct val="100000"/>
              <a:buNone/>
            </a:pPr>
            <a:r>
              <a:rPr lang="en-US" sz="2400"/>
              <a:t>   </a:t>
            </a:r>
            <a:r>
              <a:rPr lang="en-US" sz="2400">
                <a:solidFill>
                  <a:srgbClr val="2D01E9"/>
                </a:solidFill>
              </a:rPr>
              <a:t>f.Show();</a:t>
            </a:r>
            <a:r>
              <a:rPr lang="en-US" sz="2400"/>
              <a:t>//to show the form</a:t>
            </a:r>
            <a:endParaRPr/>
          </a:p>
          <a:p>
            <a:pPr indent="0" lvl="0" marL="91440" rtl="0" algn="l">
              <a:lnSpc>
                <a:spcPct val="90000"/>
              </a:lnSpc>
              <a:spcBef>
                <a:spcPts val="1600"/>
              </a:spcBef>
              <a:spcAft>
                <a:spcPts val="0"/>
              </a:spcAft>
              <a:buSzPct val="100000"/>
              <a:buNone/>
            </a:pPr>
            <a:r>
              <a:t/>
            </a:r>
            <a:endParaRPr/>
          </a:p>
        </p:txBody>
      </p:sp>
      <p:sp>
        <p:nvSpPr>
          <p:cNvPr id="249" name="Google Shape;249;p20"/>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21"/>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Forms</a:t>
            </a:r>
            <a:endParaRPr/>
          </a:p>
        </p:txBody>
      </p:sp>
      <p:sp>
        <p:nvSpPr>
          <p:cNvPr id="255" name="Google Shape;255;p21"/>
          <p:cNvSpPr txBox="1"/>
          <p:nvPr>
            <p:ph idx="1" type="body"/>
          </p:nvPr>
        </p:nvSpPr>
        <p:spPr>
          <a:xfrm>
            <a:off x="457200" y="1737362"/>
            <a:ext cx="8458199" cy="4722424"/>
          </a:xfrm>
          <a:prstGeom prst="rect">
            <a:avLst/>
          </a:prstGeom>
          <a:noFill/>
          <a:ln>
            <a:noFill/>
          </a:ln>
        </p:spPr>
        <p:txBody>
          <a:bodyPr anchorCtr="0" anchor="t" bIns="45700" lIns="0" spcFirstLastPara="1" rIns="0" wrap="square" tIns="45700">
            <a:normAutofit fontScale="92500" lnSpcReduction="20000"/>
          </a:bodyPr>
          <a:lstStyle/>
          <a:p>
            <a:pPr indent="-192881" lvl="0" marL="370403" rtl="0" algn="l">
              <a:lnSpc>
                <a:spcPct val="110000"/>
              </a:lnSpc>
              <a:spcBef>
                <a:spcPts val="0"/>
              </a:spcBef>
              <a:spcAft>
                <a:spcPts val="0"/>
              </a:spcAft>
              <a:buSzPct val="100000"/>
              <a:buFont typeface="Noto Sans Symbols"/>
              <a:buChar char="▪"/>
            </a:pPr>
            <a:r>
              <a:rPr lang="en-US" sz="3200">
                <a:solidFill>
                  <a:srgbClr val="404040"/>
                </a:solidFill>
                <a:latin typeface="Calibri"/>
                <a:ea typeface="Calibri"/>
                <a:cs typeface="Calibri"/>
                <a:sym typeface="Calibri"/>
              </a:rPr>
              <a:t>You can set form properties in </a:t>
            </a:r>
            <a:r>
              <a:rPr b="1" lang="en-US" sz="3200">
                <a:solidFill>
                  <a:srgbClr val="404040"/>
                </a:solidFill>
                <a:latin typeface="Calibri"/>
                <a:ea typeface="Calibri"/>
                <a:cs typeface="Calibri"/>
                <a:sym typeface="Calibri"/>
              </a:rPr>
              <a:t>constructor</a:t>
            </a:r>
            <a:r>
              <a:rPr lang="en-US" sz="3200">
                <a:solidFill>
                  <a:srgbClr val="404040"/>
                </a:solidFill>
                <a:latin typeface="Calibri"/>
                <a:ea typeface="Calibri"/>
                <a:cs typeface="Calibri"/>
                <a:sym typeface="Calibri"/>
              </a:rPr>
              <a:t>.</a:t>
            </a:r>
            <a:endParaRPr sz="1100">
              <a:solidFill>
                <a:srgbClr val="000000"/>
              </a:solidFill>
              <a:latin typeface="Calibri"/>
              <a:ea typeface="Calibri"/>
              <a:cs typeface="Calibri"/>
              <a:sym typeface="Calibri"/>
            </a:endParaRPr>
          </a:p>
          <a:p>
            <a:pPr indent="-192881" lvl="0" marL="370403" rtl="0" algn="l">
              <a:lnSpc>
                <a:spcPct val="110000"/>
              </a:lnSpc>
              <a:spcBef>
                <a:spcPts val="1701"/>
              </a:spcBef>
              <a:spcAft>
                <a:spcPts val="0"/>
              </a:spcAft>
              <a:buSzPct val="100000"/>
              <a:buFont typeface="Noto Sans Symbols"/>
              <a:buChar char="▪"/>
            </a:pPr>
            <a:r>
              <a:rPr lang="en-US" sz="3200">
                <a:solidFill>
                  <a:srgbClr val="404040"/>
                </a:solidFill>
                <a:latin typeface="Calibri"/>
                <a:ea typeface="Calibri"/>
                <a:cs typeface="Calibri"/>
                <a:sym typeface="Calibri"/>
              </a:rPr>
              <a:t>Initialization code can be set also in the </a:t>
            </a:r>
            <a:r>
              <a:rPr b="1" lang="en-US" sz="3200">
                <a:solidFill>
                  <a:srgbClr val="404040"/>
                </a:solidFill>
                <a:latin typeface="Calibri"/>
                <a:ea typeface="Calibri"/>
                <a:cs typeface="Calibri"/>
                <a:sym typeface="Calibri"/>
              </a:rPr>
              <a:t>Form_Load</a:t>
            </a:r>
            <a:r>
              <a:rPr lang="en-US" sz="3200">
                <a:solidFill>
                  <a:srgbClr val="404040"/>
                </a:solidFill>
                <a:latin typeface="Calibri"/>
                <a:ea typeface="Calibri"/>
                <a:cs typeface="Calibri"/>
                <a:sym typeface="Calibri"/>
              </a:rPr>
              <a:t> </a:t>
            </a:r>
            <a:r>
              <a:rPr b="1" lang="en-US" sz="3200">
                <a:solidFill>
                  <a:srgbClr val="404040"/>
                </a:solidFill>
                <a:latin typeface="Calibri"/>
                <a:ea typeface="Calibri"/>
                <a:cs typeface="Calibri"/>
                <a:sym typeface="Calibri"/>
              </a:rPr>
              <a:t>event</a:t>
            </a:r>
            <a:r>
              <a:rPr lang="en-US" sz="3200">
                <a:solidFill>
                  <a:srgbClr val="404040"/>
                </a:solidFill>
                <a:latin typeface="Calibri"/>
                <a:ea typeface="Calibri"/>
                <a:cs typeface="Calibri"/>
                <a:sym typeface="Calibri"/>
              </a:rPr>
              <a:t>.</a:t>
            </a:r>
            <a:endParaRPr sz="1100">
              <a:solidFill>
                <a:srgbClr val="000000"/>
              </a:solidFill>
              <a:latin typeface="Calibri"/>
              <a:ea typeface="Calibri"/>
              <a:cs typeface="Calibri"/>
              <a:sym typeface="Calibri"/>
            </a:endParaRPr>
          </a:p>
          <a:p>
            <a:pPr indent="-192881" lvl="0" marL="370403" rtl="0" algn="l">
              <a:lnSpc>
                <a:spcPct val="110000"/>
              </a:lnSpc>
              <a:spcBef>
                <a:spcPts val="1602"/>
              </a:spcBef>
              <a:spcAft>
                <a:spcPts val="0"/>
              </a:spcAft>
              <a:buSzPct val="100000"/>
              <a:buFont typeface="Noto Sans Symbols"/>
              <a:buChar char="▪"/>
            </a:pPr>
            <a:r>
              <a:rPr lang="en-US" sz="3200">
                <a:solidFill>
                  <a:srgbClr val="404040"/>
                </a:solidFill>
                <a:latin typeface="Calibri"/>
                <a:ea typeface="Calibri"/>
                <a:cs typeface="Calibri"/>
                <a:sym typeface="Calibri"/>
              </a:rPr>
              <a:t>To make a form a </a:t>
            </a:r>
            <a:r>
              <a:rPr b="1" lang="en-US" sz="3200">
                <a:solidFill>
                  <a:srgbClr val="404040"/>
                </a:solidFill>
                <a:latin typeface="Calibri"/>
                <a:ea typeface="Calibri"/>
                <a:cs typeface="Calibri"/>
                <a:sym typeface="Calibri"/>
              </a:rPr>
              <a:t>startup form </a:t>
            </a:r>
            <a:r>
              <a:rPr lang="en-US" sz="3200">
                <a:solidFill>
                  <a:srgbClr val="404040"/>
                </a:solidFill>
                <a:latin typeface="Calibri"/>
                <a:ea typeface="Calibri"/>
                <a:cs typeface="Calibri"/>
                <a:sym typeface="Calibri"/>
              </a:rPr>
              <a:t>for your application pass an object of the form to </a:t>
            </a:r>
            <a:r>
              <a:rPr b="1" lang="en-US" sz="3200">
                <a:solidFill>
                  <a:srgbClr val="404040"/>
                </a:solidFill>
                <a:latin typeface="Calibri"/>
                <a:ea typeface="Calibri"/>
                <a:cs typeface="Calibri"/>
                <a:sym typeface="Calibri"/>
              </a:rPr>
              <a:t>Application.Run</a:t>
            </a:r>
            <a:r>
              <a:rPr lang="en-US" sz="3200">
                <a:solidFill>
                  <a:srgbClr val="404040"/>
                </a:solidFill>
                <a:latin typeface="Calibri"/>
                <a:ea typeface="Calibri"/>
                <a:cs typeface="Calibri"/>
                <a:sym typeface="Calibri"/>
              </a:rPr>
              <a:t>:</a:t>
            </a:r>
            <a:endParaRPr sz="1100">
              <a:solidFill>
                <a:srgbClr val="000000"/>
              </a:solidFill>
              <a:latin typeface="Calibri"/>
              <a:ea typeface="Calibri"/>
              <a:cs typeface="Calibri"/>
              <a:sym typeface="Calibri"/>
            </a:endParaRPr>
          </a:p>
          <a:p>
            <a:pPr indent="-192881" lvl="0" marL="370403" rtl="0" algn="l">
              <a:lnSpc>
                <a:spcPct val="110000"/>
              </a:lnSpc>
              <a:spcBef>
                <a:spcPts val="1602"/>
              </a:spcBef>
              <a:spcAft>
                <a:spcPts val="0"/>
              </a:spcAft>
              <a:buSzPct val="100000"/>
              <a:buFont typeface="Noto Sans Symbols"/>
              <a:buChar char="▪"/>
            </a:pPr>
            <a:r>
              <a:rPr lang="en-US" sz="3200">
                <a:solidFill>
                  <a:srgbClr val="404040"/>
                </a:solidFill>
                <a:latin typeface="Calibri"/>
                <a:ea typeface="Calibri"/>
                <a:cs typeface="Calibri"/>
                <a:sym typeface="Calibri"/>
              </a:rPr>
              <a:t>Example:</a:t>
            </a:r>
            <a:endParaRPr sz="1100">
              <a:solidFill>
                <a:srgbClr val="000000"/>
              </a:solidFill>
              <a:latin typeface="Calibri"/>
              <a:ea typeface="Calibri"/>
              <a:cs typeface="Calibri"/>
              <a:sym typeface="Calibri"/>
            </a:endParaRPr>
          </a:p>
          <a:p>
            <a:pPr indent="-192880" lvl="0" marL="417551" rtl="0" algn="l">
              <a:lnSpc>
                <a:spcPct val="110000"/>
              </a:lnSpc>
              <a:spcBef>
                <a:spcPts val="1602"/>
              </a:spcBef>
              <a:spcAft>
                <a:spcPts val="0"/>
              </a:spcAft>
              <a:buSzPct val="100000"/>
              <a:buFont typeface="Noto Sans Symbols"/>
              <a:buChar char="▪"/>
            </a:pPr>
            <a:r>
              <a:rPr lang="en-US" sz="3200">
                <a:solidFill>
                  <a:srgbClr val="2683C6"/>
                </a:solidFill>
                <a:latin typeface="Calibri"/>
                <a:ea typeface="Calibri"/>
                <a:cs typeface="Calibri"/>
                <a:sym typeface="Calibri"/>
              </a:rPr>
              <a:t>Application.Run(new Form1()); </a:t>
            </a:r>
            <a:r>
              <a:rPr lang="en-US" sz="3200">
                <a:solidFill>
                  <a:schemeClr val="dk1"/>
                </a:solidFill>
                <a:latin typeface="Calibri"/>
                <a:ea typeface="Calibri"/>
                <a:cs typeface="Calibri"/>
                <a:sym typeface="Calibri"/>
              </a:rPr>
              <a:t>//</a:t>
            </a:r>
            <a:r>
              <a:rPr lang="en-US" sz="3200">
                <a:solidFill>
                  <a:srgbClr val="404040"/>
                </a:solidFill>
                <a:latin typeface="Calibri"/>
                <a:ea typeface="Calibri"/>
                <a:cs typeface="Calibri"/>
                <a:sym typeface="Calibri"/>
              </a:rPr>
              <a:t>This makes Form1  the main form that opens when you run the application.</a:t>
            </a:r>
            <a:endParaRPr sz="1100">
              <a:solidFill>
                <a:srgbClr val="000000"/>
              </a:solidFill>
              <a:latin typeface="Calibri"/>
              <a:ea typeface="Calibri"/>
              <a:cs typeface="Calibri"/>
              <a:sym typeface="Calibri"/>
            </a:endParaRPr>
          </a:p>
          <a:p>
            <a:pPr indent="0" lvl="0" marL="91440" rtl="0" algn="l">
              <a:lnSpc>
                <a:spcPct val="90000"/>
              </a:lnSpc>
              <a:spcBef>
                <a:spcPts val="1602"/>
              </a:spcBef>
              <a:spcAft>
                <a:spcPts val="0"/>
              </a:spcAft>
              <a:buSzPct val="100000"/>
              <a:buNone/>
            </a:pPr>
            <a:r>
              <a:t/>
            </a:r>
            <a:endParaRPr/>
          </a:p>
        </p:txBody>
      </p:sp>
      <p:sp>
        <p:nvSpPr>
          <p:cNvPr id="256" name="Google Shape;256;p21"/>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22"/>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Forms</a:t>
            </a:r>
            <a:endParaRPr/>
          </a:p>
        </p:txBody>
      </p:sp>
      <p:sp>
        <p:nvSpPr>
          <p:cNvPr id="262" name="Google Shape;262;p22"/>
          <p:cNvSpPr txBox="1"/>
          <p:nvPr>
            <p:ph idx="1" type="body"/>
          </p:nvPr>
        </p:nvSpPr>
        <p:spPr>
          <a:xfrm>
            <a:off x="822959" y="1845734"/>
            <a:ext cx="7543801" cy="4326466"/>
          </a:xfrm>
          <a:prstGeom prst="rect">
            <a:avLst/>
          </a:prstGeom>
          <a:noFill/>
          <a:ln>
            <a:noFill/>
          </a:ln>
        </p:spPr>
        <p:txBody>
          <a:bodyPr anchorCtr="0" anchor="t" bIns="45700" lIns="0" spcFirstLastPara="1" rIns="0" wrap="square" tIns="45700">
            <a:normAutofit fontScale="92500" lnSpcReduction="10000"/>
          </a:bodyPr>
          <a:lstStyle/>
          <a:p>
            <a:pPr indent="-187960" lvl="0" marL="208598" rtl="0" algn="l">
              <a:lnSpc>
                <a:spcPct val="104000"/>
              </a:lnSpc>
              <a:spcBef>
                <a:spcPts val="0"/>
              </a:spcBef>
              <a:spcAft>
                <a:spcPts val="0"/>
              </a:spcAft>
              <a:buSzPct val="100000"/>
              <a:buChar char=" "/>
            </a:pPr>
            <a:r>
              <a:rPr lang="en-US" sz="3200">
                <a:solidFill>
                  <a:srgbClr val="2683C6"/>
                </a:solidFill>
                <a:latin typeface="Calibri"/>
                <a:ea typeface="Calibri"/>
                <a:cs typeface="Calibri"/>
                <a:sym typeface="Calibri"/>
              </a:rPr>
              <a:t>Properties:</a:t>
            </a:r>
            <a:endParaRPr sz="1200">
              <a:solidFill>
                <a:srgbClr val="000000"/>
              </a:solidFill>
              <a:latin typeface="Calibri"/>
              <a:ea typeface="Calibri"/>
              <a:cs typeface="Calibri"/>
              <a:sym typeface="Calibri"/>
            </a:endParaRPr>
          </a:p>
          <a:p>
            <a:pPr indent="-192880" lvl="0" marL="479345" rtl="0" algn="l">
              <a:lnSpc>
                <a:spcPct val="110000"/>
              </a:lnSpc>
              <a:spcBef>
                <a:spcPts val="1248"/>
              </a:spcBef>
              <a:spcAft>
                <a:spcPts val="0"/>
              </a:spcAft>
              <a:buSzPct val="100000"/>
              <a:buFont typeface="Noto Sans Symbols"/>
              <a:buChar char="▪"/>
            </a:pPr>
            <a:r>
              <a:rPr lang="en-US" sz="3200">
                <a:solidFill>
                  <a:srgbClr val="1CADE4"/>
                </a:solidFill>
                <a:latin typeface="Calibri"/>
                <a:ea typeface="Calibri"/>
                <a:cs typeface="Calibri"/>
                <a:sym typeface="Calibri"/>
              </a:rPr>
              <a:t> </a:t>
            </a:r>
            <a:r>
              <a:rPr lang="en-US" sz="3200">
                <a:solidFill>
                  <a:srgbClr val="404040"/>
                </a:solidFill>
                <a:latin typeface="Calibri"/>
                <a:ea typeface="Calibri"/>
                <a:cs typeface="Calibri"/>
                <a:sym typeface="Calibri"/>
              </a:rPr>
              <a:t>Name, FormBorderStyle, Text, BackColor, BackImage, …etc</a:t>
            </a:r>
            <a:endParaRPr sz="1200">
              <a:solidFill>
                <a:srgbClr val="000000"/>
              </a:solidFill>
              <a:latin typeface="Calibri"/>
              <a:ea typeface="Calibri"/>
              <a:cs typeface="Calibri"/>
              <a:sym typeface="Calibri"/>
            </a:endParaRPr>
          </a:p>
          <a:p>
            <a:pPr indent="-187960" lvl="0" marL="228243" rtl="0" algn="l">
              <a:lnSpc>
                <a:spcPct val="104000"/>
              </a:lnSpc>
              <a:spcBef>
                <a:spcPts val="1718"/>
              </a:spcBef>
              <a:spcAft>
                <a:spcPts val="0"/>
              </a:spcAft>
              <a:buSzPct val="100000"/>
              <a:buChar char=" "/>
            </a:pPr>
            <a:r>
              <a:rPr lang="en-US" sz="3200">
                <a:solidFill>
                  <a:srgbClr val="2683C6"/>
                </a:solidFill>
                <a:latin typeface="Calibri"/>
                <a:ea typeface="Calibri"/>
                <a:cs typeface="Calibri"/>
                <a:sym typeface="Calibri"/>
              </a:rPr>
              <a:t>Events:</a:t>
            </a:r>
            <a:endParaRPr sz="1200">
              <a:solidFill>
                <a:srgbClr val="000000"/>
              </a:solidFill>
              <a:latin typeface="Calibri"/>
              <a:ea typeface="Calibri"/>
              <a:cs typeface="Calibri"/>
              <a:sym typeface="Calibri"/>
            </a:endParaRPr>
          </a:p>
          <a:p>
            <a:pPr indent="-192880" lvl="0" marL="479345" rtl="0" algn="l">
              <a:lnSpc>
                <a:spcPct val="110000"/>
              </a:lnSpc>
              <a:spcBef>
                <a:spcPts val="1248"/>
              </a:spcBef>
              <a:spcAft>
                <a:spcPts val="0"/>
              </a:spcAft>
              <a:buSzPct val="100000"/>
              <a:buFont typeface="Noto Sans Symbols"/>
              <a:buChar char="▪"/>
            </a:pPr>
            <a:r>
              <a:rPr lang="en-US" sz="3200">
                <a:solidFill>
                  <a:srgbClr val="404040"/>
                </a:solidFill>
                <a:latin typeface="Calibri"/>
                <a:ea typeface="Calibri"/>
                <a:cs typeface="Calibri"/>
                <a:sym typeface="Calibri"/>
              </a:rPr>
              <a:t>Load, FormClosing, FormClosed</a:t>
            </a:r>
            <a:endParaRPr sz="1200">
              <a:solidFill>
                <a:srgbClr val="000000"/>
              </a:solidFill>
              <a:latin typeface="Calibri"/>
              <a:ea typeface="Calibri"/>
              <a:cs typeface="Calibri"/>
              <a:sym typeface="Calibri"/>
            </a:endParaRPr>
          </a:p>
          <a:p>
            <a:pPr indent="-192880" lvl="0" marL="479345" rtl="0" algn="l">
              <a:lnSpc>
                <a:spcPct val="110000"/>
              </a:lnSpc>
              <a:spcBef>
                <a:spcPts val="1245"/>
              </a:spcBef>
              <a:spcAft>
                <a:spcPts val="0"/>
              </a:spcAft>
              <a:buSzPct val="100000"/>
              <a:buFont typeface="Noto Sans Symbols"/>
              <a:buChar char="▪"/>
            </a:pPr>
            <a:r>
              <a:rPr lang="en-US" sz="3200">
                <a:solidFill>
                  <a:srgbClr val="404040"/>
                </a:solidFill>
                <a:latin typeface="Calibri"/>
                <a:ea typeface="Calibri"/>
                <a:cs typeface="Calibri"/>
                <a:sym typeface="Calibri"/>
              </a:rPr>
              <a:t>GotFocus, LostFocus</a:t>
            </a:r>
            <a:endParaRPr sz="1200">
              <a:solidFill>
                <a:srgbClr val="000000"/>
              </a:solidFill>
              <a:latin typeface="Calibri"/>
              <a:ea typeface="Calibri"/>
              <a:cs typeface="Calibri"/>
              <a:sym typeface="Calibri"/>
            </a:endParaRPr>
          </a:p>
          <a:p>
            <a:pPr indent="-192880" lvl="0" marL="479345" rtl="0" algn="l">
              <a:lnSpc>
                <a:spcPct val="110000"/>
              </a:lnSpc>
              <a:spcBef>
                <a:spcPts val="1245"/>
              </a:spcBef>
              <a:spcAft>
                <a:spcPts val="0"/>
              </a:spcAft>
              <a:buSzPct val="100000"/>
              <a:buFont typeface="Noto Sans Symbols"/>
              <a:buChar char="▪"/>
            </a:pPr>
            <a:r>
              <a:rPr lang="en-US" sz="3200">
                <a:solidFill>
                  <a:srgbClr val="404040"/>
                </a:solidFill>
                <a:latin typeface="Calibri"/>
                <a:ea typeface="Calibri"/>
                <a:cs typeface="Calibri"/>
                <a:sym typeface="Calibri"/>
              </a:rPr>
              <a:t>MouseHover, Click, DoubleCLick</a:t>
            </a:r>
            <a:endParaRPr sz="1200">
              <a:solidFill>
                <a:srgbClr val="000000"/>
              </a:solidFill>
              <a:latin typeface="Calibri"/>
              <a:ea typeface="Calibri"/>
              <a:cs typeface="Calibri"/>
              <a:sym typeface="Calibri"/>
            </a:endParaRPr>
          </a:p>
          <a:p>
            <a:pPr indent="0" lvl="0" marL="91440" rtl="0" algn="l">
              <a:lnSpc>
                <a:spcPct val="90000"/>
              </a:lnSpc>
              <a:spcBef>
                <a:spcPts val="1602"/>
              </a:spcBef>
              <a:spcAft>
                <a:spcPts val="0"/>
              </a:spcAft>
              <a:buSzPct val="100000"/>
              <a:buNone/>
            </a:pPr>
            <a:r>
              <a:t/>
            </a:r>
            <a:endParaRPr/>
          </a:p>
        </p:txBody>
      </p:sp>
      <p:sp>
        <p:nvSpPr>
          <p:cNvPr id="263" name="Google Shape;263;p22"/>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24"/>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Events</a:t>
            </a:r>
            <a:endParaRPr/>
          </a:p>
        </p:txBody>
      </p:sp>
      <p:sp>
        <p:nvSpPr>
          <p:cNvPr id="269" name="Google Shape;269;p24"/>
          <p:cNvSpPr txBox="1"/>
          <p:nvPr>
            <p:ph idx="1" type="body"/>
          </p:nvPr>
        </p:nvSpPr>
        <p:spPr>
          <a:xfrm>
            <a:off x="822959" y="1845734"/>
            <a:ext cx="7543801" cy="4478866"/>
          </a:xfrm>
          <a:prstGeom prst="rect">
            <a:avLst/>
          </a:prstGeom>
          <a:noFill/>
          <a:ln>
            <a:noFill/>
          </a:ln>
        </p:spPr>
        <p:txBody>
          <a:bodyPr anchorCtr="0" anchor="t" bIns="45700" lIns="0" spcFirstLastPara="1" rIns="0" wrap="square" tIns="45700">
            <a:normAutofit fontScale="92500" lnSpcReduction="20000"/>
          </a:bodyPr>
          <a:lstStyle/>
          <a:p>
            <a:pPr indent="-164465" lvl="0" marL="91440" rtl="0" algn="l">
              <a:lnSpc>
                <a:spcPct val="90000"/>
              </a:lnSpc>
              <a:spcBef>
                <a:spcPts val="0"/>
              </a:spcBef>
              <a:spcAft>
                <a:spcPts val="0"/>
              </a:spcAft>
              <a:buSzPct val="100000"/>
              <a:buFont typeface="Noto Sans Symbols"/>
              <a:buChar char="▪"/>
            </a:pPr>
            <a:r>
              <a:rPr lang="en-US" sz="2800"/>
              <a:t>An event is an </a:t>
            </a:r>
            <a:r>
              <a:rPr lang="en-US" sz="2800">
                <a:solidFill>
                  <a:schemeClr val="accent2"/>
                </a:solidFill>
              </a:rPr>
              <a:t>action which you can respond to</a:t>
            </a:r>
            <a:r>
              <a:rPr lang="en-US" sz="2800"/>
              <a:t>, or "handle," in code like button click or text change.</a:t>
            </a:r>
            <a:endParaRPr/>
          </a:p>
          <a:p>
            <a:pPr indent="-164465" lvl="0" marL="91440" rtl="0" algn="l">
              <a:lnSpc>
                <a:spcPct val="90000"/>
              </a:lnSpc>
              <a:spcBef>
                <a:spcPts val="1400"/>
              </a:spcBef>
              <a:spcAft>
                <a:spcPts val="0"/>
              </a:spcAft>
              <a:buSzPct val="100000"/>
              <a:buFont typeface="Noto Sans Symbols"/>
              <a:buChar char="▪"/>
            </a:pPr>
            <a:r>
              <a:rPr lang="en-US" sz="2800"/>
              <a:t>In event-driven based programming:</a:t>
            </a:r>
            <a:endParaRPr/>
          </a:p>
          <a:p>
            <a:pPr indent="-211455" lvl="1" marL="384048" rtl="0" algn="l">
              <a:lnSpc>
                <a:spcPct val="90000"/>
              </a:lnSpc>
              <a:spcBef>
                <a:spcPts val="400"/>
              </a:spcBef>
              <a:spcAft>
                <a:spcPts val="0"/>
              </a:spcAft>
              <a:buSzPct val="100000"/>
              <a:buFont typeface="Noto Sans Symbols"/>
              <a:buChar char="⮚"/>
            </a:pPr>
            <a:r>
              <a:rPr lang="en-US" sz="3600"/>
              <a:t>A user actions are translated into “events”.</a:t>
            </a:r>
            <a:endParaRPr/>
          </a:p>
          <a:p>
            <a:pPr indent="-211455" lvl="1" marL="384048" rtl="0" algn="l">
              <a:lnSpc>
                <a:spcPct val="90000"/>
              </a:lnSpc>
              <a:spcBef>
                <a:spcPts val="600"/>
              </a:spcBef>
              <a:spcAft>
                <a:spcPts val="0"/>
              </a:spcAft>
              <a:buSzPct val="100000"/>
              <a:buFont typeface="Noto Sans Symbols"/>
              <a:buChar char="⮚"/>
            </a:pPr>
            <a:r>
              <a:rPr lang="en-US" sz="3600"/>
              <a:t>Events are passed to application for processing.</a:t>
            </a:r>
            <a:endParaRPr/>
          </a:p>
          <a:p>
            <a:pPr indent="-164465" lvl="0" marL="91440" rtl="0" algn="l">
              <a:lnSpc>
                <a:spcPct val="90000"/>
              </a:lnSpc>
              <a:spcBef>
                <a:spcPts val="1600"/>
              </a:spcBef>
              <a:spcAft>
                <a:spcPts val="0"/>
              </a:spcAft>
              <a:buSzPct val="100000"/>
              <a:buFont typeface="Noto Sans Symbols"/>
              <a:buChar char="▪"/>
            </a:pPr>
            <a:r>
              <a:rPr lang="en-US" sz="2800"/>
              <a:t>Event-driven applications execute code in response to an event. </a:t>
            </a:r>
            <a:endParaRPr/>
          </a:p>
          <a:p>
            <a:pPr indent="-164465" lvl="0" marL="91440" rtl="0" algn="l">
              <a:lnSpc>
                <a:spcPct val="90000"/>
              </a:lnSpc>
              <a:spcBef>
                <a:spcPts val="1400"/>
              </a:spcBef>
              <a:spcAft>
                <a:spcPts val="0"/>
              </a:spcAft>
              <a:buSzPct val="100000"/>
              <a:buFont typeface="Noto Sans Symbols"/>
              <a:buChar char="▪"/>
            </a:pPr>
            <a:r>
              <a:rPr lang="en-US" sz="2800"/>
              <a:t>Each form and control exposes a predefined set of events.</a:t>
            </a:r>
            <a:endParaRPr/>
          </a:p>
          <a:p>
            <a:pPr indent="0" lvl="0" marL="91440" rtl="0" algn="l">
              <a:lnSpc>
                <a:spcPct val="90000"/>
              </a:lnSpc>
              <a:spcBef>
                <a:spcPts val="1400"/>
              </a:spcBef>
              <a:spcAft>
                <a:spcPts val="0"/>
              </a:spcAft>
              <a:buSzPct val="100000"/>
              <a:buNone/>
            </a:pPr>
            <a:r>
              <a:t/>
            </a:r>
            <a:endParaRPr/>
          </a:p>
        </p:txBody>
      </p:sp>
      <p:sp>
        <p:nvSpPr>
          <p:cNvPr id="270" name="Google Shape;270;p24"/>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23"/>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Controls</a:t>
            </a:r>
            <a:endParaRPr/>
          </a:p>
        </p:txBody>
      </p:sp>
      <p:sp>
        <p:nvSpPr>
          <p:cNvPr id="276" name="Google Shape;276;p23"/>
          <p:cNvSpPr txBox="1"/>
          <p:nvPr>
            <p:ph idx="1" type="body"/>
          </p:nvPr>
        </p:nvSpPr>
        <p:spPr>
          <a:xfrm>
            <a:off x="806631" y="1737361"/>
            <a:ext cx="7880169" cy="4722425"/>
          </a:xfrm>
          <a:prstGeom prst="rect">
            <a:avLst/>
          </a:prstGeom>
          <a:noFill/>
          <a:ln>
            <a:noFill/>
          </a:ln>
        </p:spPr>
        <p:txBody>
          <a:bodyPr anchorCtr="0" anchor="t" bIns="45700" lIns="0" spcFirstLastPara="1" rIns="0" wrap="square" tIns="45700">
            <a:normAutofit fontScale="92500" lnSpcReduction="10000"/>
          </a:bodyPr>
          <a:lstStyle/>
          <a:p>
            <a:pPr indent="-164465" lvl="0" marL="91440" rtl="0" algn="l">
              <a:lnSpc>
                <a:spcPct val="90000"/>
              </a:lnSpc>
              <a:spcBef>
                <a:spcPts val="0"/>
              </a:spcBef>
              <a:spcAft>
                <a:spcPts val="0"/>
              </a:spcAft>
              <a:buSzPct val="100000"/>
              <a:buChar char=" "/>
            </a:pPr>
            <a:r>
              <a:rPr lang="en-US" sz="2800">
                <a:solidFill>
                  <a:srgbClr val="545454"/>
                </a:solidFill>
                <a:latin typeface="arial"/>
                <a:ea typeface="arial"/>
                <a:cs typeface="arial"/>
                <a:sym typeface="arial"/>
              </a:rPr>
              <a:t>A </a:t>
            </a:r>
            <a:r>
              <a:rPr b="1" lang="en-US" sz="2800">
                <a:solidFill>
                  <a:srgbClr val="6A6A6A"/>
                </a:solidFill>
                <a:latin typeface="arial"/>
                <a:ea typeface="arial"/>
                <a:cs typeface="arial"/>
                <a:sym typeface="arial"/>
              </a:rPr>
              <a:t>control</a:t>
            </a:r>
            <a:r>
              <a:rPr lang="en-US" sz="2800">
                <a:solidFill>
                  <a:srgbClr val="545454"/>
                </a:solidFill>
                <a:latin typeface="arial"/>
                <a:ea typeface="arial"/>
                <a:cs typeface="arial"/>
                <a:sym typeface="arial"/>
              </a:rPr>
              <a:t> is a component that provides (or enables) user-interface (UI) capabilities. </a:t>
            </a:r>
            <a:endParaRPr/>
          </a:p>
          <a:p>
            <a:pPr indent="-164465" lvl="0" marL="91440" rtl="0" algn="l">
              <a:lnSpc>
                <a:spcPct val="90000"/>
              </a:lnSpc>
              <a:spcBef>
                <a:spcPts val="1400"/>
              </a:spcBef>
              <a:spcAft>
                <a:spcPts val="0"/>
              </a:spcAft>
              <a:buSzPct val="100000"/>
              <a:buFont typeface="Noto Sans Symbols"/>
              <a:buChar char="▪"/>
            </a:pPr>
            <a:r>
              <a:rPr lang="en-US" sz="2800"/>
              <a:t>TextBox</a:t>
            </a:r>
            <a:endParaRPr sz="2800"/>
          </a:p>
          <a:p>
            <a:pPr indent="-164465" lvl="0" marL="91440" rtl="0" algn="l">
              <a:lnSpc>
                <a:spcPct val="90000"/>
              </a:lnSpc>
              <a:spcBef>
                <a:spcPts val="1400"/>
              </a:spcBef>
              <a:spcAft>
                <a:spcPts val="0"/>
              </a:spcAft>
              <a:buSzPct val="100000"/>
              <a:buFont typeface="Noto Sans Symbols"/>
              <a:buChar char="▪"/>
            </a:pPr>
            <a:r>
              <a:rPr lang="en-US" sz="2800"/>
              <a:t>Label</a:t>
            </a:r>
            <a:endParaRPr/>
          </a:p>
          <a:p>
            <a:pPr indent="-164465" lvl="0" marL="91440" rtl="0" algn="l">
              <a:lnSpc>
                <a:spcPct val="90000"/>
              </a:lnSpc>
              <a:spcBef>
                <a:spcPts val="1400"/>
              </a:spcBef>
              <a:spcAft>
                <a:spcPts val="0"/>
              </a:spcAft>
              <a:buSzPct val="100000"/>
              <a:buFont typeface="Noto Sans Symbols"/>
              <a:buChar char="▪"/>
            </a:pPr>
            <a:r>
              <a:rPr lang="en-US" sz="2800"/>
              <a:t>Button</a:t>
            </a:r>
            <a:endParaRPr/>
          </a:p>
          <a:p>
            <a:pPr indent="-164465" lvl="0" marL="91440" rtl="0" algn="l">
              <a:lnSpc>
                <a:spcPct val="90000"/>
              </a:lnSpc>
              <a:spcBef>
                <a:spcPts val="1400"/>
              </a:spcBef>
              <a:spcAft>
                <a:spcPts val="0"/>
              </a:spcAft>
              <a:buSzPct val="100000"/>
              <a:buFont typeface="Noto Sans Symbols"/>
              <a:buChar char="▪"/>
            </a:pPr>
            <a:r>
              <a:rPr lang="en-US" sz="2800"/>
              <a:t>CheckBox</a:t>
            </a:r>
            <a:endParaRPr sz="2800"/>
          </a:p>
          <a:p>
            <a:pPr indent="-164465" lvl="0" marL="91440" rtl="0" algn="l">
              <a:lnSpc>
                <a:spcPct val="90000"/>
              </a:lnSpc>
              <a:spcBef>
                <a:spcPts val="1400"/>
              </a:spcBef>
              <a:spcAft>
                <a:spcPts val="0"/>
              </a:spcAft>
              <a:buSzPct val="100000"/>
              <a:buFont typeface="Noto Sans Symbols"/>
              <a:buChar char="▪"/>
            </a:pPr>
            <a:r>
              <a:rPr lang="en-US" sz="2800"/>
              <a:t>RadioButton</a:t>
            </a:r>
            <a:endParaRPr sz="2800"/>
          </a:p>
          <a:p>
            <a:pPr indent="-164465" lvl="0" marL="91440" rtl="0" algn="l">
              <a:lnSpc>
                <a:spcPct val="90000"/>
              </a:lnSpc>
              <a:spcBef>
                <a:spcPts val="1400"/>
              </a:spcBef>
              <a:spcAft>
                <a:spcPts val="0"/>
              </a:spcAft>
              <a:buSzPct val="100000"/>
              <a:buFont typeface="Noto Sans Symbols"/>
              <a:buChar char="▪"/>
            </a:pPr>
            <a:r>
              <a:rPr lang="en-US" sz="2800"/>
              <a:t>ComboBox</a:t>
            </a:r>
            <a:endParaRPr sz="2800"/>
          </a:p>
          <a:p>
            <a:pPr indent="-164465" lvl="0" marL="91440" rtl="0" algn="l">
              <a:lnSpc>
                <a:spcPct val="90000"/>
              </a:lnSpc>
              <a:spcBef>
                <a:spcPts val="1400"/>
              </a:spcBef>
              <a:spcAft>
                <a:spcPts val="0"/>
              </a:spcAft>
              <a:buSzPct val="100000"/>
              <a:buFont typeface="Noto Sans Symbols"/>
              <a:buChar char="▪"/>
            </a:pPr>
            <a:r>
              <a:rPr lang="en-US" sz="2800"/>
              <a:t>DataGidView</a:t>
            </a:r>
            <a:endParaRPr sz="2800"/>
          </a:p>
          <a:p>
            <a:pPr indent="-164465" lvl="0" marL="91440" rtl="0" algn="l">
              <a:lnSpc>
                <a:spcPct val="90000"/>
              </a:lnSpc>
              <a:spcBef>
                <a:spcPts val="1400"/>
              </a:spcBef>
              <a:spcAft>
                <a:spcPts val="0"/>
              </a:spcAft>
              <a:buSzPct val="100000"/>
              <a:buFont typeface="Noto Sans Symbols"/>
              <a:buChar char="▪"/>
            </a:pPr>
            <a:r>
              <a:rPr lang="en-US" sz="2800"/>
              <a:t>others</a:t>
            </a:r>
            <a:endParaRPr/>
          </a:p>
          <a:p>
            <a:pPr indent="0" lvl="0" marL="91440" rtl="0" algn="l">
              <a:lnSpc>
                <a:spcPct val="90000"/>
              </a:lnSpc>
              <a:spcBef>
                <a:spcPts val="1400"/>
              </a:spcBef>
              <a:spcAft>
                <a:spcPts val="0"/>
              </a:spcAft>
              <a:buSzPct val="100000"/>
              <a:buNone/>
            </a:pPr>
            <a:r>
              <a:t/>
            </a:r>
            <a:endParaRPr/>
          </a:p>
        </p:txBody>
      </p:sp>
      <p:sp>
        <p:nvSpPr>
          <p:cNvPr id="277" name="Google Shape;277;p23"/>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25"/>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Event Handling</a:t>
            </a:r>
            <a:endParaRPr/>
          </a:p>
        </p:txBody>
      </p:sp>
      <p:sp>
        <p:nvSpPr>
          <p:cNvPr id="283" name="Google Shape;283;p25"/>
          <p:cNvSpPr txBox="1"/>
          <p:nvPr>
            <p:ph idx="1" type="body"/>
          </p:nvPr>
        </p:nvSpPr>
        <p:spPr>
          <a:xfrm>
            <a:off x="822959" y="1845734"/>
            <a:ext cx="7543801" cy="4402666"/>
          </a:xfrm>
          <a:prstGeom prst="rect">
            <a:avLst/>
          </a:prstGeom>
          <a:noFill/>
          <a:ln>
            <a:noFill/>
          </a:ln>
        </p:spPr>
        <p:txBody>
          <a:bodyPr anchorCtr="0" anchor="t" bIns="45700" lIns="0" spcFirstLastPara="1" rIns="0" wrap="square" tIns="45700">
            <a:normAutofit lnSpcReduction="10000"/>
          </a:bodyPr>
          <a:lstStyle/>
          <a:p>
            <a:pPr indent="-257175" lvl="0" marL="257175" rtl="0" algn="l">
              <a:lnSpc>
                <a:spcPct val="90000"/>
              </a:lnSpc>
              <a:spcBef>
                <a:spcPts val="0"/>
              </a:spcBef>
              <a:spcAft>
                <a:spcPts val="0"/>
              </a:spcAft>
              <a:buSzPts val="2400"/>
              <a:buFont typeface="Calibri"/>
              <a:buAutoNum type="arabicPeriod"/>
            </a:pPr>
            <a:r>
              <a:rPr lang="en-US" sz="2400"/>
              <a:t>Select the Properties window</a:t>
            </a:r>
            <a:endParaRPr/>
          </a:p>
          <a:p>
            <a:pPr indent="-257175" lvl="0" marL="257175" rtl="0" algn="l">
              <a:lnSpc>
                <a:spcPct val="90000"/>
              </a:lnSpc>
              <a:spcBef>
                <a:spcPts val="1400"/>
              </a:spcBef>
              <a:spcAft>
                <a:spcPts val="0"/>
              </a:spcAft>
              <a:buSzPts val="2400"/>
              <a:buFont typeface="Calibri"/>
              <a:buAutoNum type="arabicPeriod"/>
            </a:pPr>
            <a:r>
              <a:rPr lang="en-US" sz="2400"/>
              <a:t>Click Events button  </a:t>
            </a:r>
            <a:endParaRPr/>
          </a:p>
          <a:p>
            <a:pPr indent="-257175" lvl="0" marL="257175" rtl="0" algn="l">
              <a:lnSpc>
                <a:spcPct val="90000"/>
              </a:lnSpc>
              <a:spcBef>
                <a:spcPts val="1400"/>
              </a:spcBef>
              <a:spcAft>
                <a:spcPts val="0"/>
              </a:spcAft>
              <a:buSzPts val="2400"/>
              <a:buFont typeface="Calibri"/>
              <a:buAutoNum type="arabicPeriod"/>
            </a:pPr>
            <a:r>
              <a:rPr lang="en-US" sz="2400"/>
              <a:t>Select the event and double-click it.</a:t>
            </a:r>
            <a:endParaRPr/>
          </a:p>
          <a:p>
            <a:pPr indent="-152400" lvl="0" marL="91440" rtl="0" algn="l">
              <a:lnSpc>
                <a:spcPct val="90000"/>
              </a:lnSpc>
              <a:spcBef>
                <a:spcPts val="1400"/>
              </a:spcBef>
              <a:spcAft>
                <a:spcPts val="0"/>
              </a:spcAft>
              <a:buSzPts val="2400"/>
              <a:buChar char=" "/>
            </a:pPr>
            <a:r>
              <a:rPr lang="en-US" sz="2400"/>
              <a:t>Note: Every control has a </a:t>
            </a:r>
            <a:r>
              <a:rPr b="1" lang="en-US" sz="2400"/>
              <a:t>default event </a:t>
            </a:r>
            <a:r>
              <a:rPr lang="en-US" sz="2400"/>
              <a:t>that shows up when clicking the control </a:t>
            </a:r>
            <a:endParaRPr/>
          </a:p>
          <a:p>
            <a:pPr indent="-152400" lvl="0" marL="91440" rtl="0" algn="l">
              <a:lnSpc>
                <a:spcPct val="90000"/>
              </a:lnSpc>
              <a:spcBef>
                <a:spcPts val="1400"/>
              </a:spcBef>
              <a:spcAft>
                <a:spcPts val="0"/>
              </a:spcAft>
              <a:buSzPts val="2400"/>
              <a:buFont typeface="Noto Sans Symbols"/>
              <a:buChar char="▪"/>
            </a:pPr>
            <a:r>
              <a:rPr lang="en-US" sz="2400"/>
              <a:t>Form: Load event </a:t>
            </a:r>
            <a:endParaRPr/>
          </a:p>
          <a:p>
            <a:pPr indent="-152400" lvl="0" marL="91440" rtl="0" algn="l">
              <a:lnSpc>
                <a:spcPct val="90000"/>
              </a:lnSpc>
              <a:spcBef>
                <a:spcPts val="1400"/>
              </a:spcBef>
              <a:spcAft>
                <a:spcPts val="0"/>
              </a:spcAft>
              <a:buSzPts val="2400"/>
              <a:buFont typeface="Noto Sans Symbols"/>
              <a:buChar char="▪"/>
            </a:pPr>
            <a:r>
              <a:rPr lang="en-US" sz="2400"/>
              <a:t>Button control: Click event</a:t>
            </a:r>
            <a:endParaRPr/>
          </a:p>
          <a:p>
            <a:pPr indent="-152400" lvl="0" marL="91440" rtl="0" algn="l">
              <a:lnSpc>
                <a:spcPct val="90000"/>
              </a:lnSpc>
              <a:spcBef>
                <a:spcPts val="1400"/>
              </a:spcBef>
              <a:spcAft>
                <a:spcPts val="0"/>
              </a:spcAft>
              <a:buSzPts val="2400"/>
              <a:buFont typeface="Noto Sans Symbols"/>
              <a:buChar char="▪"/>
            </a:pPr>
            <a:r>
              <a:rPr lang="en-US" sz="2400"/>
              <a:t>Textbox: Text Changed event</a:t>
            </a:r>
            <a:endParaRPr/>
          </a:p>
          <a:p>
            <a:pPr indent="-152400" lvl="0" marL="91440" rtl="0" algn="l">
              <a:lnSpc>
                <a:spcPct val="90000"/>
              </a:lnSpc>
              <a:spcBef>
                <a:spcPts val="1400"/>
              </a:spcBef>
              <a:spcAft>
                <a:spcPts val="0"/>
              </a:spcAft>
              <a:buSzPts val="2400"/>
              <a:buFont typeface="Noto Sans Symbols"/>
              <a:buChar char="▪"/>
            </a:pPr>
            <a:r>
              <a:rPr lang="en-US" sz="2400"/>
              <a:t>To add the default event procedure, simply double-click the control and add your code.</a:t>
            </a:r>
            <a:endParaRPr/>
          </a:p>
          <a:p>
            <a:pPr indent="0" lvl="0" marL="91440" rtl="0" algn="l">
              <a:lnSpc>
                <a:spcPct val="90000"/>
              </a:lnSpc>
              <a:spcBef>
                <a:spcPts val="1400"/>
              </a:spcBef>
              <a:spcAft>
                <a:spcPts val="0"/>
              </a:spcAft>
              <a:buSzPts val="2000"/>
              <a:buNone/>
            </a:pPr>
            <a:r>
              <a:t/>
            </a:r>
            <a:endParaRPr/>
          </a:p>
        </p:txBody>
      </p:sp>
      <p:sp>
        <p:nvSpPr>
          <p:cNvPr id="284" name="Google Shape;284;p25"/>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85" name="Google Shape;285;p25"/>
          <p:cNvPicPr preferRelativeResize="0"/>
          <p:nvPr/>
        </p:nvPicPr>
        <p:blipFill rotWithShape="1">
          <a:blip r:embed="rId3">
            <a:alphaModFix/>
          </a:blip>
          <a:srcRect b="0" l="0" r="0" t="0"/>
          <a:stretch/>
        </p:blipFill>
        <p:spPr>
          <a:xfrm>
            <a:off x="3581400" y="2362200"/>
            <a:ext cx="324683" cy="288608"/>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26"/>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Using the FormDesigner</a:t>
            </a:r>
            <a:endParaRPr/>
          </a:p>
        </p:txBody>
      </p:sp>
      <p:sp>
        <p:nvSpPr>
          <p:cNvPr id="291" name="Google Shape;291;p26"/>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rmAutofit lnSpcReduction="10000"/>
          </a:bodyPr>
          <a:lstStyle/>
          <a:p>
            <a:pPr indent="-228600" lvl="0" marL="91440" rtl="0" algn="l">
              <a:lnSpc>
                <a:spcPct val="90000"/>
              </a:lnSpc>
              <a:spcBef>
                <a:spcPts val="0"/>
              </a:spcBef>
              <a:spcAft>
                <a:spcPts val="0"/>
              </a:spcAft>
              <a:buSzPts val="3600"/>
              <a:buFont typeface="Noto Sans Symbols"/>
              <a:buChar char="▪"/>
            </a:pPr>
            <a:r>
              <a:rPr lang="en-US" sz="3600"/>
              <a:t>Drag/Drop controls from Toolbox to Designer</a:t>
            </a:r>
            <a:endParaRPr/>
          </a:p>
          <a:p>
            <a:pPr indent="-228600" lvl="0" marL="91440" rtl="0" algn="l">
              <a:lnSpc>
                <a:spcPct val="90000"/>
              </a:lnSpc>
              <a:spcBef>
                <a:spcPts val="1400"/>
              </a:spcBef>
              <a:spcAft>
                <a:spcPts val="0"/>
              </a:spcAft>
              <a:buSzPts val="3600"/>
              <a:buFont typeface="Noto Sans Symbols"/>
              <a:buChar char="▪"/>
            </a:pPr>
            <a:r>
              <a:rPr lang="en-US" sz="3600"/>
              <a:t>Set properties of form and controls in Properties window or in the code.</a:t>
            </a:r>
            <a:endParaRPr/>
          </a:p>
          <a:p>
            <a:pPr indent="-228600" lvl="0" marL="91440" rtl="0" algn="l">
              <a:lnSpc>
                <a:spcPct val="90000"/>
              </a:lnSpc>
              <a:spcBef>
                <a:spcPts val="1400"/>
              </a:spcBef>
              <a:spcAft>
                <a:spcPts val="0"/>
              </a:spcAft>
              <a:buSzPts val="3600"/>
              <a:buFont typeface="Noto Sans Symbols"/>
              <a:buChar char="▪"/>
            </a:pPr>
            <a:r>
              <a:rPr lang="en-US" sz="3600"/>
              <a:t>Attach event handlers using Events Windows</a:t>
            </a:r>
            <a:endParaRPr/>
          </a:p>
          <a:p>
            <a:pPr indent="-228600" lvl="0" marL="91440" rtl="0" algn="l">
              <a:lnSpc>
                <a:spcPct val="90000"/>
              </a:lnSpc>
              <a:spcBef>
                <a:spcPts val="1400"/>
              </a:spcBef>
              <a:spcAft>
                <a:spcPts val="0"/>
              </a:spcAft>
              <a:buSzPts val="3600"/>
              <a:buFont typeface="Noto Sans Symbols"/>
              <a:buChar char="▪"/>
            </a:pPr>
            <a:r>
              <a:rPr lang="en-US" sz="3600"/>
              <a:t>Add event handler code (code behind)</a:t>
            </a:r>
            <a:endParaRPr/>
          </a:p>
          <a:p>
            <a:pPr indent="0" lvl="0" marL="91440" rtl="0" algn="l">
              <a:lnSpc>
                <a:spcPct val="90000"/>
              </a:lnSpc>
              <a:spcBef>
                <a:spcPts val="1400"/>
              </a:spcBef>
              <a:spcAft>
                <a:spcPts val="0"/>
              </a:spcAft>
              <a:buSzPts val="2000"/>
              <a:buNone/>
            </a:pPr>
            <a:r>
              <a:t/>
            </a:r>
            <a:endParaRPr/>
          </a:p>
        </p:txBody>
      </p:sp>
      <p:sp>
        <p:nvSpPr>
          <p:cNvPr id="292" name="Google Shape;292;p26"/>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27"/>
          <p:cNvSpPr txBox="1"/>
          <p:nvPr>
            <p:ph type="title"/>
          </p:nvPr>
        </p:nvSpPr>
        <p:spPr>
          <a:xfrm>
            <a:off x="822960" y="286604"/>
            <a:ext cx="801624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Build windows form application</a:t>
            </a:r>
            <a:endParaRPr/>
          </a:p>
        </p:txBody>
      </p:sp>
      <p:sp>
        <p:nvSpPr>
          <p:cNvPr id="298" name="Google Shape;298;p27"/>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rmAutofit/>
          </a:bodyPr>
          <a:lstStyle/>
          <a:p>
            <a:pPr indent="-257175" lvl="0" marL="257175" rtl="0" algn="l">
              <a:lnSpc>
                <a:spcPct val="90000"/>
              </a:lnSpc>
              <a:spcBef>
                <a:spcPts val="0"/>
              </a:spcBef>
              <a:spcAft>
                <a:spcPts val="0"/>
              </a:spcAft>
              <a:buSzPts val="2800"/>
              <a:buFont typeface="Calibri"/>
              <a:buAutoNum type="arabicPeriod"/>
            </a:pPr>
            <a:r>
              <a:rPr lang="en-US" sz="2800"/>
              <a:t>Open the visual studio</a:t>
            </a:r>
            <a:endParaRPr/>
          </a:p>
          <a:p>
            <a:pPr indent="-257175" lvl="0" marL="257175" rtl="0" algn="l">
              <a:lnSpc>
                <a:spcPct val="90000"/>
              </a:lnSpc>
              <a:spcBef>
                <a:spcPts val="1400"/>
              </a:spcBef>
              <a:spcAft>
                <a:spcPts val="0"/>
              </a:spcAft>
              <a:buSzPts val="2800"/>
              <a:buFont typeface="Calibri"/>
              <a:buAutoNum type="arabicPeriod"/>
            </a:pPr>
            <a:r>
              <a:rPr lang="en-US" sz="2800"/>
              <a:t>From File New 🡪 Project 🡪 Visual C#</a:t>
            </a:r>
            <a:endParaRPr/>
          </a:p>
          <a:p>
            <a:pPr indent="0" lvl="0" marL="0" rtl="0" algn="l">
              <a:lnSpc>
                <a:spcPct val="90000"/>
              </a:lnSpc>
              <a:spcBef>
                <a:spcPts val="1400"/>
              </a:spcBef>
              <a:spcAft>
                <a:spcPts val="0"/>
              </a:spcAft>
              <a:buSzPts val="2800"/>
              <a:buNone/>
            </a:pPr>
            <a:r>
              <a:rPr lang="en-US" sz="2800"/>
              <a:t>      🡪 Windows Forms App</a:t>
            </a:r>
            <a:endParaRPr/>
          </a:p>
          <a:p>
            <a:pPr indent="-289322" lvl="0" marL="289322" rtl="0" algn="l">
              <a:lnSpc>
                <a:spcPct val="90000"/>
              </a:lnSpc>
              <a:spcBef>
                <a:spcPts val="1400"/>
              </a:spcBef>
              <a:spcAft>
                <a:spcPts val="0"/>
              </a:spcAft>
              <a:buSzPts val="2800"/>
              <a:buFont typeface="Calibri"/>
              <a:buAutoNum type="arabicPeriod" startAt="3"/>
            </a:pPr>
            <a:r>
              <a:rPr lang="en-US" sz="2800"/>
              <a:t>It will create an empty form </a:t>
            </a:r>
            <a:endParaRPr/>
          </a:p>
          <a:p>
            <a:pPr indent="-257175" lvl="0" marL="257175" rtl="0" algn="l">
              <a:lnSpc>
                <a:spcPct val="90000"/>
              </a:lnSpc>
              <a:spcBef>
                <a:spcPts val="1400"/>
              </a:spcBef>
              <a:spcAft>
                <a:spcPts val="0"/>
              </a:spcAft>
              <a:buSzPts val="2800"/>
              <a:buFont typeface="Calibri"/>
              <a:buAutoNum type="arabicPeriod" startAt="3"/>
            </a:pPr>
            <a:r>
              <a:rPr lang="en-US" sz="2800"/>
              <a:t>Make sure that the toolbox is visible</a:t>
            </a:r>
            <a:endParaRPr/>
          </a:p>
          <a:p>
            <a:pPr indent="-257175" lvl="0" marL="257175" rtl="0" algn="l">
              <a:lnSpc>
                <a:spcPct val="90000"/>
              </a:lnSpc>
              <a:spcBef>
                <a:spcPts val="1400"/>
              </a:spcBef>
              <a:spcAft>
                <a:spcPts val="0"/>
              </a:spcAft>
              <a:buSzPts val="2800"/>
              <a:buFont typeface="Calibri"/>
              <a:buAutoNum type="arabicPeriod" startAt="3"/>
            </a:pPr>
            <a:r>
              <a:rPr lang="en-US" sz="2800"/>
              <a:t>From </a:t>
            </a:r>
            <a:r>
              <a:rPr b="1" lang="en-US" sz="2800"/>
              <a:t>toolbox</a:t>
            </a:r>
            <a:r>
              <a:rPr lang="en-US" sz="2800"/>
              <a:t> window, drag a button</a:t>
            </a:r>
            <a:endParaRPr/>
          </a:p>
          <a:p>
            <a:pPr indent="-257175" lvl="0" marL="257175" rtl="0" algn="l">
              <a:lnSpc>
                <a:spcPct val="90000"/>
              </a:lnSpc>
              <a:spcBef>
                <a:spcPts val="1400"/>
              </a:spcBef>
              <a:spcAft>
                <a:spcPts val="0"/>
              </a:spcAft>
              <a:buSzPts val="2800"/>
              <a:buFont typeface="Calibri"/>
              <a:buAutoNum type="arabicPeriod" startAt="3"/>
            </a:pPr>
            <a:r>
              <a:rPr lang="en-US" sz="2800">
                <a:solidFill>
                  <a:srgbClr val="404040"/>
                </a:solidFill>
                <a:latin typeface="Calibri"/>
                <a:ea typeface="Calibri"/>
                <a:cs typeface="Calibri"/>
                <a:sym typeface="Calibri"/>
              </a:rPr>
              <a:t>From </a:t>
            </a:r>
            <a:r>
              <a:rPr b="1" lang="en-US" sz="2800">
                <a:solidFill>
                  <a:srgbClr val="404040"/>
                </a:solidFill>
                <a:latin typeface="Calibri"/>
                <a:ea typeface="Calibri"/>
                <a:cs typeface="Calibri"/>
                <a:sym typeface="Calibri"/>
              </a:rPr>
              <a:t>properties</a:t>
            </a:r>
            <a:r>
              <a:rPr lang="en-US" sz="2800">
                <a:solidFill>
                  <a:srgbClr val="404040"/>
                </a:solidFill>
                <a:latin typeface="Calibri"/>
                <a:ea typeface="Calibri"/>
                <a:cs typeface="Calibri"/>
                <a:sym typeface="Calibri"/>
              </a:rPr>
              <a:t> window, edit some of them</a:t>
            </a:r>
            <a:endParaRPr sz="2800"/>
          </a:p>
          <a:p>
            <a:pPr indent="0" lvl="0" marL="91440" rtl="0" algn="l">
              <a:lnSpc>
                <a:spcPct val="90000"/>
              </a:lnSpc>
              <a:spcBef>
                <a:spcPts val="1400"/>
              </a:spcBef>
              <a:spcAft>
                <a:spcPts val="0"/>
              </a:spcAft>
              <a:buSzPts val="2000"/>
              <a:buNone/>
            </a:pPr>
            <a:r>
              <a:t/>
            </a:r>
            <a:endParaRPr/>
          </a:p>
        </p:txBody>
      </p:sp>
      <p:sp>
        <p:nvSpPr>
          <p:cNvPr id="299" name="Google Shape;299;p27"/>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300" name="Google Shape;300;p27"/>
          <p:cNvPicPr preferRelativeResize="0"/>
          <p:nvPr/>
        </p:nvPicPr>
        <p:blipFill rotWithShape="1">
          <a:blip r:embed="rId3">
            <a:alphaModFix/>
          </a:blip>
          <a:srcRect b="0" l="0" r="0" t="0"/>
          <a:stretch/>
        </p:blipFill>
        <p:spPr>
          <a:xfrm>
            <a:off x="6629400" y="1845734"/>
            <a:ext cx="2514599" cy="3274906"/>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28"/>
          <p:cNvSpPr txBox="1"/>
          <p:nvPr>
            <p:ph type="title"/>
          </p:nvPr>
        </p:nvSpPr>
        <p:spPr>
          <a:xfrm>
            <a:off x="822960" y="286604"/>
            <a:ext cx="794004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Build windows form application</a:t>
            </a:r>
            <a:endParaRPr/>
          </a:p>
        </p:txBody>
      </p:sp>
      <p:sp>
        <p:nvSpPr>
          <p:cNvPr id="306" name="Google Shape;306;p28"/>
          <p:cNvSpPr txBox="1"/>
          <p:nvPr>
            <p:ph idx="1" type="body"/>
          </p:nvPr>
        </p:nvSpPr>
        <p:spPr>
          <a:xfrm>
            <a:off x="822959" y="1845734"/>
            <a:ext cx="7543801" cy="4478866"/>
          </a:xfrm>
          <a:prstGeom prst="rect">
            <a:avLst/>
          </a:prstGeom>
          <a:noFill/>
          <a:ln>
            <a:noFill/>
          </a:ln>
        </p:spPr>
        <p:txBody>
          <a:bodyPr anchorCtr="0" anchor="t" bIns="45700" lIns="0" spcFirstLastPara="1" rIns="0" wrap="square" tIns="45700">
            <a:normAutofit fontScale="92500" lnSpcReduction="10000"/>
          </a:bodyPr>
          <a:lstStyle/>
          <a:p>
            <a:pPr indent="-140970" lvl="0" marL="91440" rtl="0" algn="l">
              <a:lnSpc>
                <a:spcPct val="90000"/>
              </a:lnSpc>
              <a:spcBef>
                <a:spcPts val="0"/>
              </a:spcBef>
              <a:spcAft>
                <a:spcPts val="0"/>
              </a:spcAft>
              <a:buSzPct val="100000"/>
              <a:buFont typeface="Noto Sans Symbols"/>
              <a:buChar char="▪"/>
            </a:pPr>
            <a:r>
              <a:rPr lang="en-US" sz="2400"/>
              <a:t>Then, we would like to write some code to handle the event of button click.</a:t>
            </a:r>
            <a:endParaRPr/>
          </a:p>
          <a:p>
            <a:pPr indent="-140970" lvl="0" marL="91440" rtl="0" algn="l">
              <a:lnSpc>
                <a:spcPct val="90000"/>
              </a:lnSpc>
              <a:spcBef>
                <a:spcPts val="1400"/>
              </a:spcBef>
              <a:spcAft>
                <a:spcPts val="0"/>
              </a:spcAft>
              <a:buSzPct val="100000"/>
              <a:buFont typeface="Noto Sans Symbols"/>
              <a:buChar char="▪"/>
            </a:pPr>
            <a:r>
              <a:rPr lang="en-US" sz="2400"/>
              <a:t>Double click the button from the form, you will find this function:</a:t>
            </a:r>
            <a:endParaRPr/>
          </a:p>
          <a:p>
            <a:pPr indent="-187960" lvl="1" marL="384048" rtl="0" algn="l">
              <a:lnSpc>
                <a:spcPct val="90000"/>
              </a:lnSpc>
              <a:spcBef>
                <a:spcPts val="400"/>
              </a:spcBef>
              <a:spcAft>
                <a:spcPts val="0"/>
              </a:spcAft>
              <a:buSzPct val="100000"/>
              <a:buFont typeface="Noto Sans Symbols"/>
              <a:buChar char="⮚"/>
            </a:pPr>
            <a:r>
              <a:rPr lang="en-US" sz="3200"/>
              <a:t>private void button1_Click(object sender, EventArgs e) { }</a:t>
            </a:r>
            <a:endParaRPr/>
          </a:p>
          <a:p>
            <a:pPr indent="-140970" lvl="0" marL="91440" rtl="0" algn="l">
              <a:lnSpc>
                <a:spcPct val="90000"/>
              </a:lnSpc>
              <a:spcBef>
                <a:spcPts val="1600"/>
              </a:spcBef>
              <a:spcAft>
                <a:spcPts val="0"/>
              </a:spcAft>
              <a:buSzPct val="100000"/>
              <a:buFont typeface="Noto Sans Symbols"/>
              <a:buChar char="▪"/>
            </a:pPr>
            <a:r>
              <a:rPr lang="en-US" sz="2400"/>
              <a:t>You can add this line in the body of the pervious function:</a:t>
            </a:r>
            <a:endParaRPr/>
          </a:p>
          <a:p>
            <a:pPr indent="-187960" lvl="1" marL="384048" rtl="0" algn="l">
              <a:lnSpc>
                <a:spcPct val="90000"/>
              </a:lnSpc>
              <a:spcBef>
                <a:spcPts val="400"/>
              </a:spcBef>
              <a:spcAft>
                <a:spcPts val="0"/>
              </a:spcAft>
              <a:buSzPct val="100000"/>
              <a:buFont typeface="Noto Sans Symbols"/>
              <a:buChar char="⮚"/>
            </a:pPr>
            <a:r>
              <a:rPr lang="en-US" sz="3200"/>
              <a:t>MessageBox.Show(“This is my first windows form app!”);</a:t>
            </a:r>
            <a:endParaRPr/>
          </a:p>
          <a:p>
            <a:pPr indent="-140970" lvl="0" marL="91440" rtl="0" algn="l">
              <a:lnSpc>
                <a:spcPct val="90000"/>
              </a:lnSpc>
              <a:spcBef>
                <a:spcPts val="1600"/>
              </a:spcBef>
              <a:spcAft>
                <a:spcPts val="0"/>
              </a:spcAft>
              <a:buSzPct val="100000"/>
              <a:buFont typeface="Noto Sans Symbols"/>
              <a:buChar char="▪"/>
            </a:pPr>
            <a:r>
              <a:rPr lang="en-US" sz="2400"/>
              <a:t>Note: For any control, </a:t>
            </a:r>
            <a:r>
              <a:rPr b="1" lang="en-US" sz="2400"/>
              <a:t>Name</a:t>
            </a:r>
            <a:r>
              <a:rPr lang="en-US" sz="2400"/>
              <a:t> property denotes the </a:t>
            </a:r>
            <a:r>
              <a:rPr b="1" lang="en-US" sz="2400"/>
              <a:t>variable name </a:t>
            </a:r>
            <a:r>
              <a:rPr lang="en-US" sz="2400"/>
              <a:t>of the control to be used in code, however </a:t>
            </a:r>
            <a:r>
              <a:rPr b="1" lang="en-US" sz="2400"/>
              <a:t>Text</a:t>
            </a:r>
            <a:r>
              <a:rPr lang="en-US" sz="2400"/>
              <a:t> property denotes the </a:t>
            </a:r>
            <a:r>
              <a:rPr b="1" lang="en-US" sz="2400"/>
              <a:t>text displayed</a:t>
            </a:r>
            <a:r>
              <a:rPr lang="en-US" sz="2400"/>
              <a:t> on the control. </a:t>
            </a:r>
            <a:endParaRPr/>
          </a:p>
          <a:p>
            <a:pPr indent="0" lvl="0" marL="91440" rtl="0" algn="l">
              <a:lnSpc>
                <a:spcPct val="90000"/>
              </a:lnSpc>
              <a:spcBef>
                <a:spcPts val="1400"/>
              </a:spcBef>
              <a:spcAft>
                <a:spcPts val="0"/>
              </a:spcAft>
              <a:buSzPct val="100000"/>
              <a:buNone/>
            </a:pPr>
            <a:r>
              <a:t/>
            </a:r>
            <a:endParaRPr/>
          </a:p>
        </p:txBody>
      </p:sp>
      <p:sp>
        <p:nvSpPr>
          <p:cNvPr id="307" name="Google Shape;307;p28"/>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29"/>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Label</a:t>
            </a:r>
            <a:endParaRPr/>
          </a:p>
        </p:txBody>
      </p:sp>
      <p:sp>
        <p:nvSpPr>
          <p:cNvPr id="313" name="Google Shape;313;p29"/>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rmAutofit/>
          </a:bodyPr>
          <a:lstStyle/>
          <a:p>
            <a:pPr indent="-203200" lvl="0" marL="91440" rtl="0" algn="l">
              <a:lnSpc>
                <a:spcPct val="90000"/>
              </a:lnSpc>
              <a:spcBef>
                <a:spcPts val="0"/>
              </a:spcBef>
              <a:spcAft>
                <a:spcPts val="0"/>
              </a:spcAft>
              <a:buSzPts val="3200"/>
              <a:buChar char=" "/>
            </a:pPr>
            <a:r>
              <a:rPr lang="en-US" sz="3200"/>
              <a:t>For displaying of text</a:t>
            </a:r>
            <a:endParaRPr/>
          </a:p>
          <a:p>
            <a:pPr indent="-203200" lvl="0" marL="91440" rtl="0" algn="l">
              <a:lnSpc>
                <a:spcPct val="90000"/>
              </a:lnSpc>
              <a:spcBef>
                <a:spcPts val="1400"/>
              </a:spcBef>
              <a:spcAft>
                <a:spcPts val="0"/>
              </a:spcAft>
              <a:buSzPts val="3200"/>
              <a:buChar char=" "/>
            </a:pPr>
            <a:r>
              <a:rPr lang="en-US" sz="3200"/>
              <a:t>◦used to label other things on the form</a:t>
            </a:r>
            <a:endParaRPr/>
          </a:p>
          <a:p>
            <a:pPr indent="-203200" lvl="0" marL="91440" rtl="0" algn="l">
              <a:lnSpc>
                <a:spcPct val="90000"/>
              </a:lnSpc>
              <a:spcBef>
                <a:spcPts val="1400"/>
              </a:spcBef>
              <a:spcAft>
                <a:spcPts val="0"/>
              </a:spcAft>
              <a:buSzPts val="3200"/>
              <a:buChar char=" "/>
            </a:pPr>
            <a:r>
              <a:rPr lang="en-US" sz="3200"/>
              <a:t>Properties:</a:t>
            </a:r>
            <a:endParaRPr/>
          </a:p>
          <a:p>
            <a:pPr indent="-203200" lvl="0" marL="91440" rtl="0" algn="l">
              <a:lnSpc>
                <a:spcPct val="90000"/>
              </a:lnSpc>
              <a:spcBef>
                <a:spcPts val="1400"/>
              </a:spcBef>
              <a:spcAft>
                <a:spcPts val="0"/>
              </a:spcAft>
              <a:buSzPts val="3200"/>
              <a:buChar char=" "/>
            </a:pPr>
            <a:r>
              <a:rPr lang="en-US" sz="3200"/>
              <a:t>–Text</a:t>
            </a:r>
            <a:endParaRPr/>
          </a:p>
          <a:p>
            <a:pPr indent="-203200" lvl="0" marL="91440" rtl="0" algn="l">
              <a:lnSpc>
                <a:spcPct val="90000"/>
              </a:lnSpc>
              <a:spcBef>
                <a:spcPts val="1400"/>
              </a:spcBef>
              <a:spcAft>
                <a:spcPts val="0"/>
              </a:spcAft>
              <a:buSzPts val="3200"/>
              <a:buChar char=" "/>
            </a:pPr>
            <a:r>
              <a:rPr lang="en-US" sz="3200"/>
              <a:t>–Font</a:t>
            </a:r>
            <a:endParaRPr/>
          </a:p>
          <a:p>
            <a:pPr indent="-203200" lvl="0" marL="91440" rtl="0" algn="l">
              <a:lnSpc>
                <a:spcPct val="90000"/>
              </a:lnSpc>
              <a:spcBef>
                <a:spcPts val="1400"/>
              </a:spcBef>
              <a:spcAft>
                <a:spcPts val="0"/>
              </a:spcAft>
              <a:buSzPts val="3200"/>
              <a:buChar char=" "/>
            </a:pPr>
            <a:r>
              <a:rPr lang="en-US" sz="3200"/>
              <a:t>–ForeColor</a:t>
            </a:r>
            <a:endParaRPr sz="3200"/>
          </a:p>
        </p:txBody>
      </p:sp>
      <p:sp>
        <p:nvSpPr>
          <p:cNvPr id="314" name="Google Shape;314;p29"/>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30"/>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TextBox</a:t>
            </a:r>
            <a:endParaRPr/>
          </a:p>
        </p:txBody>
      </p:sp>
      <p:pic>
        <p:nvPicPr>
          <p:cNvPr id="320" name="Google Shape;320;p30"/>
          <p:cNvPicPr preferRelativeResize="0"/>
          <p:nvPr>
            <p:ph idx="1" type="body"/>
          </p:nvPr>
        </p:nvPicPr>
        <p:blipFill rotWithShape="1">
          <a:blip r:embed="rId3">
            <a:alphaModFix/>
          </a:blip>
          <a:srcRect b="0" l="0" r="0" t="0"/>
          <a:stretch/>
        </p:blipFill>
        <p:spPr>
          <a:xfrm>
            <a:off x="822960" y="1905000"/>
            <a:ext cx="7863840" cy="4038600"/>
          </a:xfrm>
          <a:prstGeom prst="rect">
            <a:avLst/>
          </a:prstGeom>
          <a:noFill/>
          <a:ln>
            <a:noFill/>
          </a:ln>
        </p:spPr>
      </p:pic>
      <p:sp>
        <p:nvSpPr>
          <p:cNvPr id="321" name="Google Shape;321;p30"/>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31"/>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TextBox Example</a:t>
            </a:r>
            <a:endParaRPr/>
          </a:p>
        </p:txBody>
      </p:sp>
      <p:sp>
        <p:nvSpPr>
          <p:cNvPr id="328" name="Google Shape;328;p31"/>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rmAutofit/>
          </a:bodyPr>
          <a:lstStyle/>
          <a:p>
            <a:pPr indent="0" lvl="0" marL="91440" rtl="0" algn="l">
              <a:lnSpc>
                <a:spcPct val="90000"/>
              </a:lnSpc>
              <a:spcBef>
                <a:spcPts val="0"/>
              </a:spcBef>
              <a:spcAft>
                <a:spcPts val="0"/>
              </a:spcAft>
              <a:buSzPts val="2000"/>
              <a:buNone/>
            </a:pPr>
            <a:r>
              <a:t/>
            </a:r>
            <a:endParaRPr/>
          </a:p>
        </p:txBody>
      </p:sp>
      <p:sp>
        <p:nvSpPr>
          <p:cNvPr id="329" name="Google Shape;329;p31"/>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330" name="Google Shape;330;p31"/>
          <p:cNvPicPr preferRelativeResize="0"/>
          <p:nvPr/>
        </p:nvPicPr>
        <p:blipFill rotWithShape="1">
          <a:blip r:embed="rId3">
            <a:alphaModFix/>
          </a:blip>
          <a:srcRect b="0" l="0" r="0" t="0"/>
          <a:stretch/>
        </p:blipFill>
        <p:spPr>
          <a:xfrm>
            <a:off x="609600" y="1889761"/>
            <a:ext cx="8153400" cy="4511039"/>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32"/>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Checkbox</a:t>
            </a:r>
            <a:endParaRPr/>
          </a:p>
        </p:txBody>
      </p:sp>
      <p:pic>
        <p:nvPicPr>
          <p:cNvPr id="336" name="Google Shape;336;p32"/>
          <p:cNvPicPr preferRelativeResize="0"/>
          <p:nvPr>
            <p:ph idx="1" type="body"/>
          </p:nvPr>
        </p:nvPicPr>
        <p:blipFill rotWithShape="1">
          <a:blip r:embed="rId3">
            <a:alphaModFix/>
          </a:blip>
          <a:srcRect b="0" l="0" r="0" t="0"/>
          <a:stretch/>
        </p:blipFill>
        <p:spPr>
          <a:xfrm>
            <a:off x="152400" y="1828800"/>
            <a:ext cx="9448800" cy="4114800"/>
          </a:xfrm>
          <a:prstGeom prst="rect">
            <a:avLst/>
          </a:prstGeom>
          <a:noFill/>
          <a:ln>
            <a:noFill/>
          </a:ln>
        </p:spPr>
      </p:pic>
      <p:sp>
        <p:nvSpPr>
          <p:cNvPr id="337" name="Google Shape;337;p32"/>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33"/>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Checkbox Example</a:t>
            </a:r>
            <a:endParaRPr/>
          </a:p>
        </p:txBody>
      </p:sp>
      <p:sp>
        <p:nvSpPr>
          <p:cNvPr id="344" name="Google Shape;344;p33"/>
          <p:cNvSpPr txBox="1"/>
          <p:nvPr>
            <p:ph idx="1" type="body"/>
          </p:nvPr>
        </p:nvSpPr>
        <p:spPr>
          <a:xfrm>
            <a:off x="822960" y="1737360"/>
            <a:ext cx="5469205" cy="4434840"/>
          </a:xfrm>
          <a:prstGeom prst="rect">
            <a:avLst/>
          </a:prstGeom>
          <a:noFill/>
          <a:ln>
            <a:noFill/>
          </a:ln>
        </p:spPr>
        <p:txBody>
          <a:bodyPr anchorCtr="0" anchor="t" bIns="45700" lIns="0" spcFirstLastPara="1" rIns="0" wrap="square" tIns="45700">
            <a:normAutofit lnSpcReduction="20000"/>
          </a:bodyPr>
          <a:lstStyle/>
          <a:p>
            <a:pPr indent="-177800" lvl="0" marL="91440" rtl="0" algn="l">
              <a:lnSpc>
                <a:spcPct val="90000"/>
              </a:lnSpc>
              <a:spcBef>
                <a:spcPts val="0"/>
              </a:spcBef>
              <a:spcAft>
                <a:spcPts val="0"/>
              </a:spcAft>
              <a:buSzPts val="2800"/>
              <a:buFont typeface="Noto Sans Symbols"/>
              <a:buChar char="▪"/>
            </a:pPr>
            <a:r>
              <a:rPr lang="en-US" sz="2800"/>
              <a:t>Design a simple form asking the user about his/her favorite sports. </a:t>
            </a:r>
            <a:endParaRPr/>
          </a:p>
          <a:p>
            <a:pPr indent="-177800" lvl="0" marL="91440" rtl="0" algn="l">
              <a:lnSpc>
                <a:spcPct val="90000"/>
              </a:lnSpc>
              <a:spcBef>
                <a:spcPts val="1400"/>
              </a:spcBef>
              <a:spcAft>
                <a:spcPts val="0"/>
              </a:spcAft>
              <a:buSzPts val="2800"/>
              <a:buFont typeface="Noto Sans Symbols"/>
              <a:buChar char="▪"/>
            </a:pPr>
            <a:r>
              <a:rPr lang="en-US" sz="2800"/>
              <a:t>When the user clicks Enter button, you should write the count of sports the user prefers according to the number of checkboxes he/she marked in the textbox</a:t>
            </a:r>
            <a:endParaRPr/>
          </a:p>
          <a:p>
            <a:pPr indent="-177800" lvl="0" marL="91440" rtl="0" algn="l">
              <a:lnSpc>
                <a:spcPct val="90000"/>
              </a:lnSpc>
              <a:spcBef>
                <a:spcPts val="1400"/>
              </a:spcBef>
              <a:spcAft>
                <a:spcPts val="0"/>
              </a:spcAft>
              <a:buSzPts val="2800"/>
              <a:buChar char=" "/>
            </a:pPr>
            <a:r>
              <a:rPr lang="en-US" sz="2800">
                <a:solidFill>
                  <a:srgbClr val="2D01E9"/>
                </a:solidFill>
              </a:rPr>
              <a:t>Hint:</a:t>
            </a:r>
            <a:endParaRPr/>
          </a:p>
          <a:p>
            <a:pPr indent="-177800" lvl="0" marL="91440" rtl="0" algn="l">
              <a:lnSpc>
                <a:spcPct val="90000"/>
              </a:lnSpc>
              <a:spcBef>
                <a:spcPts val="1400"/>
              </a:spcBef>
              <a:spcAft>
                <a:spcPts val="0"/>
              </a:spcAft>
              <a:buSzPts val="2800"/>
              <a:buChar char=" "/>
            </a:pPr>
            <a:r>
              <a:rPr lang="en-US" sz="2800"/>
              <a:t>You can use ToString() function to convert from integer to String.</a:t>
            </a:r>
            <a:endParaRPr/>
          </a:p>
          <a:p>
            <a:pPr indent="0" lvl="0" marL="91440" rtl="0" algn="l">
              <a:lnSpc>
                <a:spcPct val="90000"/>
              </a:lnSpc>
              <a:spcBef>
                <a:spcPts val="1400"/>
              </a:spcBef>
              <a:spcAft>
                <a:spcPts val="0"/>
              </a:spcAft>
              <a:buSzPts val="2000"/>
              <a:buNone/>
            </a:pPr>
            <a:r>
              <a:t/>
            </a:r>
            <a:endParaRPr/>
          </a:p>
        </p:txBody>
      </p:sp>
      <p:sp>
        <p:nvSpPr>
          <p:cNvPr id="345" name="Google Shape;345;p33"/>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346" name="Google Shape;346;p33"/>
          <p:cNvPicPr preferRelativeResize="0"/>
          <p:nvPr/>
        </p:nvPicPr>
        <p:blipFill rotWithShape="1">
          <a:blip r:embed="rId3">
            <a:alphaModFix/>
          </a:blip>
          <a:srcRect b="0" l="0" r="0" t="0"/>
          <a:stretch/>
        </p:blipFill>
        <p:spPr>
          <a:xfrm>
            <a:off x="6292165" y="2008668"/>
            <a:ext cx="2758365" cy="3401531"/>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34"/>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Radio button</a:t>
            </a:r>
            <a:endParaRPr/>
          </a:p>
        </p:txBody>
      </p:sp>
      <p:pic>
        <p:nvPicPr>
          <p:cNvPr id="352" name="Google Shape;352;p34"/>
          <p:cNvPicPr preferRelativeResize="0"/>
          <p:nvPr>
            <p:ph idx="1" type="body"/>
          </p:nvPr>
        </p:nvPicPr>
        <p:blipFill rotWithShape="1">
          <a:blip r:embed="rId3">
            <a:alphaModFix/>
          </a:blip>
          <a:srcRect b="0" l="0" r="0" t="0"/>
          <a:stretch/>
        </p:blipFill>
        <p:spPr>
          <a:xfrm>
            <a:off x="152400" y="1737360"/>
            <a:ext cx="8991600" cy="4511040"/>
          </a:xfrm>
          <a:prstGeom prst="rect">
            <a:avLst/>
          </a:prstGeom>
          <a:noFill/>
          <a:ln>
            <a:noFill/>
          </a:ln>
        </p:spPr>
      </p:pic>
      <p:sp>
        <p:nvSpPr>
          <p:cNvPr id="353" name="Google Shape;353;p34"/>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35"/>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Combobox</a:t>
            </a:r>
            <a:endParaRPr/>
          </a:p>
        </p:txBody>
      </p:sp>
      <p:pic>
        <p:nvPicPr>
          <p:cNvPr id="359" name="Google Shape;359;p35"/>
          <p:cNvPicPr preferRelativeResize="0"/>
          <p:nvPr>
            <p:ph idx="1" type="body"/>
          </p:nvPr>
        </p:nvPicPr>
        <p:blipFill rotWithShape="1">
          <a:blip r:embed="rId3">
            <a:alphaModFix/>
          </a:blip>
          <a:srcRect b="0" l="0" r="0" t="0"/>
          <a:stretch/>
        </p:blipFill>
        <p:spPr>
          <a:xfrm>
            <a:off x="228600" y="1846218"/>
            <a:ext cx="9144000" cy="4402200"/>
          </a:xfrm>
          <a:prstGeom prst="rect">
            <a:avLst/>
          </a:prstGeom>
          <a:noFill/>
          <a:ln>
            <a:noFill/>
          </a:ln>
        </p:spPr>
      </p:pic>
      <p:sp>
        <p:nvSpPr>
          <p:cNvPr id="360" name="Google Shape;360;p35"/>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36"/>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Combobox</a:t>
            </a:r>
            <a:endParaRPr/>
          </a:p>
        </p:txBody>
      </p:sp>
      <p:sp>
        <p:nvSpPr>
          <p:cNvPr id="367" name="Google Shape;367;p36"/>
          <p:cNvSpPr txBox="1"/>
          <p:nvPr>
            <p:ph idx="1" type="body"/>
          </p:nvPr>
        </p:nvSpPr>
        <p:spPr>
          <a:xfrm>
            <a:off x="822959" y="1845734"/>
            <a:ext cx="7543801" cy="4402666"/>
          </a:xfrm>
          <a:prstGeom prst="rect">
            <a:avLst/>
          </a:prstGeom>
          <a:noFill/>
          <a:ln>
            <a:noFill/>
          </a:ln>
        </p:spPr>
        <p:txBody>
          <a:bodyPr anchorCtr="0" anchor="t" bIns="45700" lIns="0" spcFirstLastPara="1" rIns="0" wrap="square" tIns="45700">
            <a:normAutofit lnSpcReduction="10000"/>
          </a:bodyPr>
          <a:lstStyle/>
          <a:p>
            <a:pPr indent="-127000" lvl="0" marL="91440" rtl="0" algn="l">
              <a:lnSpc>
                <a:spcPct val="90000"/>
              </a:lnSpc>
              <a:spcBef>
                <a:spcPts val="0"/>
              </a:spcBef>
              <a:spcAft>
                <a:spcPts val="0"/>
              </a:spcAft>
              <a:buSzPts val="2000"/>
              <a:buChar char=" "/>
            </a:pPr>
            <a:r>
              <a:rPr lang="en-US"/>
              <a:t>How to add items into a combobox:</a:t>
            </a:r>
            <a:endParaRPr/>
          </a:p>
          <a:p>
            <a:pPr indent="-127000" lvl="0" marL="91440" rtl="0" algn="l">
              <a:lnSpc>
                <a:spcPct val="90000"/>
              </a:lnSpc>
              <a:spcBef>
                <a:spcPts val="1400"/>
              </a:spcBef>
              <a:spcAft>
                <a:spcPts val="0"/>
              </a:spcAft>
              <a:buSzPts val="2000"/>
              <a:buChar char=" "/>
            </a:pPr>
            <a:r>
              <a:rPr lang="en-US"/>
              <a:t>1. Add items one by one:</a:t>
            </a:r>
            <a:endParaRPr/>
          </a:p>
          <a:p>
            <a:pPr indent="-127000" lvl="0" marL="91440" rtl="0" algn="l">
              <a:lnSpc>
                <a:spcPct val="90000"/>
              </a:lnSpc>
              <a:spcBef>
                <a:spcPts val="1400"/>
              </a:spcBef>
              <a:spcAft>
                <a:spcPts val="0"/>
              </a:spcAft>
              <a:buSzPts val="2000"/>
              <a:buChar char=" "/>
            </a:pPr>
            <a:r>
              <a:rPr lang="en-US"/>
              <a:t>comboBox1.Items.Add("Sunday");</a:t>
            </a:r>
            <a:endParaRPr/>
          </a:p>
          <a:p>
            <a:pPr indent="-127000" lvl="0" marL="91440" rtl="0" algn="l">
              <a:lnSpc>
                <a:spcPct val="90000"/>
              </a:lnSpc>
              <a:spcBef>
                <a:spcPts val="1400"/>
              </a:spcBef>
              <a:spcAft>
                <a:spcPts val="0"/>
              </a:spcAft>
              <a:buSzPts val="2000"/>
              <a:buChar char=" "/>
            </a:pPr>
            <a:r>
              <a:rPr lang="en-US"/>
              <a:t>comboBox1.Items.Add("Monday ");</a:t>
            </a:r>
            <a:endParaRPr/>
          </a:p>
          <a:p>
            <a:pPr indent="-127000" lvl="0" marL="91440" rtl="0" algn="l">
              <a:lnSpc>
                <a:spcPct val="90000"/>
              </a:lnSpc>
              <a:spcBef>
                <a:spcPts val="1400"/>
              </a:spcBef>
              <a:spcAft>
                <a:spcPts val="0"/>
              </a:spcAft>
              <a:buSzPts val="2000"/>
              <a:buChar char=" "/>
            </a:pPr>
            <a:r>
              <a:rPr lang="en-US"/>
              <a:t>2. Bind combobox to a data source:</a:t>
            </a:r>
            <a:endParaRPr/>
          </a:p>
          <a:p>
            <a:pPr indent="-127000" lvl="0" marL="91440" rtl="0" algn="l">
              <a:lnSpc>
                <a:spcPct val="90000"/>
              </a:lnSpc>
              <a:spcBef>
                <a:spcPts val="1400"/>
              </a:spcBef>
              <a:spcAft>
                <a:spcPts val="0"/>
              </a:spcAft>
              <a:buSzPts val="2000"/>
              <a:buChar char=" "/>
            </a:pPr>
            <a:r>
              <a:rPr lang="en-US"/>
              <a:t>comboBox1.DataSource= new string[] {"Sunday ",“Monday"};</a:t>
            </a:r>
            <a:endParaRPr/>
          </a:p>
          <a:p>
            <a:pPr indent="-127000" lvl="0" marL="91440" rtl="0" algn="l">
              <a:lnSpc>
                <a:spcPct val="90000"/>
              </a:lnSpc>
              <a:spcBef>
                <a:spcPts val="1400"/>
              </a:spcBef>
              <a:spcAft>
                <a:spcPts val="0"/>
              </a:spcAft>
              <a:buSzPts val="2000"/>
              <a:buChar char=" "/>
            </a:pPr>
            <a:r>
              <a:rPr lang="en-US"/>
              <a:t>We will use the second way when we populate combobox from a database.</a:t>
            </a:r>
            <a:endParaRPr/>
          </a:p>
          <a:p>
            <a:pPr indent="-127000" lvl="0" marL="91440" rtl="0" algn="l">
              <a:lnSpc>
                <a:spcPct val="90000"/>
              </a:lnSpc>
              <a:spcBef>
                <a:spcPts val="1400"/>
              </a:spcBef>
              <a:spcAft>
                <a:spcPts val="0"/>
              </a:spcAft>
              <a:buSzPts val="2000"/>
              <a:buChar char=" "/>
            </a:pPr>
            <a:r>
              <a:rPr lang="en-US"/>
              <a:t>•You can simply remove items from a comboBox using comboBox.Items.Remove() method.</a:t>
            </a:r>
            <a:endParaRPr/>
          </a:p>
          <a:p>
            <a:pPr indent="-127000" lvl="0" marL="91440" rtl="0" algn="l">
              <a:lnSpc>
                <a:spcPct val="90000"/>
              </a:lnSpc>
              <a:spcBef>
                <a:spcPts val="1400"/>
              </a:spcBef>
              <a:spcAft>
                <a:spcPts val="0"/>
              </a:spcAft>
              <a:buSzPts val="2000"/>
              <a:buChar char=" "/>
            </a:pPr>
            <a:r>
              <a:rPr lang="en-US"/>
              <a:t>•Events: SelectedIndexChanged(default)</a:t>
            </a:r>
            <a:endParaRPr/>
          </a:p>
        </p:txBody>
      </p:sp>
      <p:sp>
        <p:nvSpPr>
          <p:cNvPr id="368" name="Google Shape;368;p36"/>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37"/>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Combobox Example</a:t>
            </a:r>
            <a:endParaRPr/>
          </a:p>
        </p:txBody>
      </p:sp>
      <p:sp>
        <p:nvSpPr>
          <p:cNvPr id="375" name="Google Shape;375;p37"/>
          <p:cNvSpPr txBox="1"/>
          <p:nvPr>
            <p:ph idx="1" type="body"/>
          </p:nvPr>
        </p:nvSpPr>
        <p:spPr>
          <a:xfrm>
            <a:off x="822959" y="1845734"/>
            <a:ext cx="7543801" cy="4478866"/>
          </a:xfrm>
          <a:prstGeom prst="rect">
            <a:avLst/>
          </a:prstGeom>
          <a:noFill/>
          <a:ln>
            <a:noFill/>
          </a:ln>
        </p:spPr>
        <p:txBody>
          <a:bodyPr anchorCtr="0" anchor="t" bIns="45700" lIns="0" spcFirstLastPara="1" rIns="0" wrap="square" tIns="45700">
            <a:noAutofit/>
          </a:bodyPr>
          <a:lstStyle/>
          <a:p>
            <a:pPr indent="-165100" lvl="0" marL="91440" rtl="0" algn="l">
              <a:lnSpc>
                <a:spcPct val="90000"/>
              </a:lnSpc>
              <a:spcBef>
                <a:spcPts val="0"/>
              </a:spcBef>
              <a:spcAft>
                <a:spcPts val="0"/>
              </a:spcAft>
              <a:buSzPts val="2600"/>
              <a:buChar char=" "/>
            </a:pPr>
            <a:r>
              <a:rPr lang="en-US" sz="2600">
                <a:solidFill>
                  <a:srgbClr val="00B0F0"/>
                </a:solidFill>
                <a:latin typeface="Calibri"/>
                <a:ea typeface="Calibri"/>
                <a:cs typeface="Calibri"/>
                <a:sym typeface="Calibri"/>
              </a:rPr>
              <a:t>1.</a:t>
            </a:r>
            <a:r>
              <a:rPr lang="en-US" sz="2600">
                <a:solidFill>
                  <a:srgbClr val="404040"/>
                </a:solidFill>
                <a:latin typeface="Calibri"/>
                <a:ea typeface="Calibri"/>
                <a:cs typeface="Calibri"/>
                <a:sym typeface="Calibri"/>
              </a:rPr>
              <a:t> Create a simple form containing two comboboxes.</a:t>
            </a:r>
            <a:endParaRPr/>
          </a:p>
          <a:p>
            <a:pPr indent="-165100" lvl="0" marL="91440" rtl="0" algn="l">
              <a:lnSpc>
                <a:spcPct val="90000"/>
              </a:lnSpc>
              <a:spcBef>
                <a:spcPts val="1400"/>
              </a:spcBef>
              <a:spcAft>
                <a:spcPts val="0"/>
              </a:spcAft>
              <a:buSzPts val="2600"/>
              <a:buChar char=" "/>
            </a:pPr>
            <a:r>
              <a:rPr lang="en-US" sz="2600">
                <a:solidFill>
                  <a:srgbClr val="1CAEE5"/>
                </a:solidFill>
                <a:latin typeface="Calibri"/>
                <a:ea typeface="Calibri"/>
                <a:cs typeface="Calibri"/>
                <a:sym typeface="Calibri"/>
              </a:rPr>
              <a:t>2.</a:t>
            </a:r>
            <a:r>
              <a:rPr lang="en-US" sz="2600">
                <a:solidFill>
                  <a:srgbClr val="404040"/>
                </a:solidFill>
                <a:latin typeface="Calibri"/>
                <a:ea typeface="Calibri"/>
                <a:cs typeface="Calibri"/>
                <a:sym typeface="Calibri"/>
              </a:rPr>
              <a:t>Initialize combobox1 with values “Day” and “Month”.</a:t>
            </a:r>
            <a:endParaRPr/>
          </a:p>
          <a:p>
            <a:pPr indent="-165100" lvl="0" marL="91440" rtl="0" algn="l">
              <a:lnSpc>
                <a:spcPct val="90000"/>
              </a:lnSpc>
              <a:spcBef>
                <a:spcPts val="1400"/>
              </a:spcBef>
              <a:spcAft>
                <a:spcPts val="0"/>
              </a:spcAft>
              <a:buSzPts val="2600"/>
              <a:buChar char=" "/>
            </a:pPr>
            <a:r>
              <a:rPr lang="en-US" sz="2600">
                <a:solidFill>
                  <a:srgbClr val="1CAEE5"/>
                </a:solidFill>
                <a:latin typeface="Calibri"/>
                <a:ea typeface="Calibri"/>
                <a:cs typeface="Calibri"/>
                <a:sym typeface="Calibri"/>
              </a:rPr>
              <a:t>3.</a:t>
            </a:r>
            <a:r>
              <a:rPr lang="en-US" sz="2600">
                <a:solidFill>
                  <a:srgbClr val="404040"/>
                </a:solidFill>
                <a:latin typeface="Calibri"/>
                <a:ea typeface="Calibri"/>
                <a:cs typeface="Calibri"/>
                <a:sym typeface="Calibri"/>
              </a:rPr>
              <a:t>Write a handler for the event “SelectedIndexChanged” of combobox1 such that you set combobox2 items according to the value selected of combobox1.</a:t>
            </a:r>
            <a:endParaRPr/>
          </a:p>
          <a:p>
            <a:pPr indent="-165100" lvl="0" marL="91440" rtl="0" algn="l">
              <a:lnSpc>
                <a:spcPct val="90000"/>
              </a:lnSpc>
              <a:spcBef>
                <a:spcPts val="1400"/>
              </a:spcBef>
              <a:spcAft>
                <a:spcPts val="0"/>
              </a:spcAft>
              <a:buSzPts val="2600"/>
              <a:buChar char=" "/>
            </a:pPr>
            <a:r>
              <a:rPr lang="en-US" sz="2600">
                <a:solidFill>
                  <a:srgbClr val="404040"/>
                </a:solidFill>
                <a:latin typeface="Calibri"/>
                <a:ea typeface="Calibri"/>
                <a:cs typeface="Calibri"/>
                <a:sym typeface="Calibri"/>
              </a:rPr>
              <a:t>i.e. if the user selected “Day” from combox1, combox2 should display weekdays (Saturday, Sunday) and if the user selected “Month” from combox1, combox2 should display months (January, February)</a:t>
            </a:r>
            <a:endParaRPr sz="2600"/>
          </a:p>
        </p:txBody>
      </p:sp>
      <p:sp>
        <p:nvSpPr>
          <p:cNvPr id="376" name="Google Shape;376;p37"/>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38"/>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Datagridview</a:t>
            </a:r>
            <a:endParaRPr/>
          </a:p>
        </p:txBody>
      </p:sp>
      <p:sp>
        <p:nvSpPr>
          <p:cNvPr id="383" name="Google Shape;383;p38"/>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Autofit/>
          </a:bodyPr>
          <a:lstStyle/>
          <a:p>
            <a:pPr indent="-203200" lvl="0" marL="91440" rtl="0" algn="l">
              <a:lnSpc>
                <a:spcPct val="90000"/>
              </a:lnSpc>
              <a:spcBef>
                <a:spcPts val="0"/>
              </a:spcBef>
              <a:spcAft>
                <a:spcPts val="0"/>
              </a:spcAft>
              <a:buSzPts val="3200"/>
              <a:buFont typeface="Noto Sans Symbols"/>
              <a:buChar char="▪"/>
            </a:pPr>
            <a:r>
              <a:rPr lang="en-US" sz="3200"/>
              <a:t>The DataGridView control is designed to display tabular data.</a:t>
            </a:r>
            <a:endParaRPr/>
          </a:p>
          <a:p>
            <a:pPr indent="-203200" lvl="0" marL="91440" rtl="0" algn="l">
              <a:lnSpc>
                <a:spcPct val="90000"/>
              </a:lnSpc>
              <a:spcBef>
                <a:spcPts val="1400"/>
              </a:spcBef>
              <a:spcAft>
                <a:spcPts val="0"/>
              </a:spcAft>
              <a:buSzPts val="3200"/>
              <a:buFont typeface="Noto Sans Symbols"/>
              <a:buChar char="▪"/>
            </a:pPr>
            <a:r>
              <a:rPr lang="en-US" sz="3200"/>
              <a:t>To add a column to datagridview:</a:t>
            </a:r>
            <a:endParaRPr/>
          </a:p>
          <a:p>
            <a:pPr indent="-203200" lvl="0" marL="91440" rtl="0" algn="l">
              <a:lnSpc>
                <a:spcPct val="90000"/>
              </a:lnSpc>
              <a:spcBef>
                <a:spcPts val="1400"/>
              </a:spcBef>
              <a:spcAft>
                <a:spcPts val="0"/>
              </a:spcAft>
              <a:buSzPts val="3200"/>
              <a:buChar char=" "/>
            </a:pPr>
            <a:r>
              <a:rPr lang="en-US" sz="3200">
                <a:solidFill>
                  <a:srgbClr val="00B0F0"/>
                </a:solidFill>
              </a:rPr>
              <a:t>dataGridView1.Columns.Add(columnName, headerText);</a:t>
            </a:r>
            <a:endParaRPr/>
          </a:p>
          <a:p>
            <a:pPr indent="-203200" lvl="0" marL="91440" rtl="0" algn="l">
              <a:lnSpc>
                <a:spcPct val="90000"/>
              </a:lnSpc>
              <a:spcBef>
                <a:spcPts val="1400"/>
              </a:spcBef>
              <a:spcAft>
                <a:spcPts val="0"/>
              </a:spcAft>
              <a:buSzPts val="3200"/>
              <a:buFont typeface="Noto Sans Symbols"/>
              <a:buChar char="▪"/>
            </a:pPr>
            <a:r>
              <a:rPr lang="en-US" sz="3200"/>
              <a:t>To fill a datagridview’s rows with data, use:</a:t>
            </a:r>
            <a:endParaRPr/>
          </a:p>
          <a:p>
            <a:pPr indent="-203200" lvl="0" marL="91440" rtl="0" algn="l">
              <a:lnSpc>
                <a:spcPct val="90000"/>
              </a:lnSpc>
              <a:spcBef>
                <a:spcPts val="1400"/>
              </a:spcBef>
              <a:spcAft>
                <a:spcPts val="0"/>
              </a:spcAft>
              <a:buSzPts val="3200"/>
              <a:buChar char=" "/>
            </a:pPr>
            <a:r>
              <a:rPr lang="en-US" sz="3200">
                <a:solidFill>
                  <a:srgbClr val="00B0F0"/>
                </a:solidFill>
              </a:rPr>
              <a:t>string[] row=new string[] {“Soha”,”Student”};</a:t>
            </a:r>
            <a:endParaRPr/>
          </a:p>
          <a:p>
            <a:pPr indent="-203200" lvl="0" marL="91440" rtl="0" algn="l">
              <a:lnSpc>
                <a:spcPct val="90000"/>
              </a:lnSpc>
              <a:spcBef>
                <a:spcPts val="1400"/>
              </a:spcBef>
              <a:spcAft>
                <a:spcPts val="0"/>
              </a:spcAft>
              <a:buSzPts val="3200"/>
              <a:buChar char=" "/>
            </a:pPr>
            <a:r>
              <a:rPr lang="en-US" sz="3200">
                <a:solidFill>
                  <a:srgbClr val="00B0F0"/>
                </a:solidFill>
              </a:rPr>
              <a:t>dataGridView1.Rows.Add(row);</a:t>
            </a:r>
            <a:endParaRPr/>
          </a:p>
        </p:txBody>
      </p:sp>
      <p:sp>
        <p:nvSpPr>
          <p:cNvPr id="384" name="Google Shape;384;p38"/>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39"/>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Datagridview</a:t>
            </a:r>
            <a:endParaRPr/>
          </a:p>
        </p:txBody>
      </p:sp>
      <p:sp>
        <p:nvSpPr>
          <p:cNvPr id="391" name="Google Shape;391;p39"/>
          <p:cNvSpPr txBox="1"/>
          <p:nvPr>
            <p:ph idx="1" type="body"/>
          </p:nvPr>
        </p:nvSpPr>
        <p:spPr>
          <a:xfrm>
            <a:off x="822959" y="1845734"/>
            <a:ext cx="7543801" cy="4250266"/>
          </a:xfrm>
          <a:prstGeom prst="rect">
            <a:avLst/>
          </a:prstGeom>
          <a:noFill/>
          <a:ln>
            <a:noFill/>
          </a:ln>
        </p:spPr>
        <p:txBody>
          <a:bodyPr anchorCtr="0" anchor="t" bIns="45700" lIns="0" spcFirstLastPara="1" rIns="0" wrap="square" tIns="45700">
            <a:normAutofit fontScale="92500"/>
          </a:bodyPr>
          <a:lstStyle/>
          <a:p>
            <a:pPr indent="-164465" lvl="0" marL="91440" rtl="0" algn="l">
              <a:lnSpc>
                <a:spcPct val="90000"/>
              </a:lnSpc>
              <a:spcBef>
                <a:spcPts val="0"/>
              </a:spcBef>
              <a:spcAft>
                <a:spcPts val="0"/>
              </a:spcAft>
              <a:buSzPct val="100000"/>
              <a:buFont typeface="Noto Sans Symbols"/>
              <a:buChar char="▪"/>
            </a:pPr>
            <a:r>
              <a:rPr lang="en-US" sz="2800">
                <a:solidFill>
                  <a:srgbClr val="404040"/>
                </a:solidFill>
                <a:latin typeface="Calibri"/>
                <a:ea typeface="Calibri"/>
                <a:cs typeface="Calibri"/>
                <a:sym typeface="Calibri"/>
              </a:rPr>
              <a:t>To access value of a certain cell in the datagridview:</a:t>
            </a:r>
            <a:endParaRPr/>
          </a:p>
          <a:p>
            <a:pPr indent="-164465" lvl="0" marL="91440" rtl="0" algn="l">
              <a:lnSpc>
                <a:spcPct val="90000"/>
              </a:lnSpc>
              <a:spcBef>
                <a:spcPts val="1400"/>
              </a:spcBef>
              <a:spcAft>
                <a:spcPts val="0"/>
              </a:spcAft>
              <a:buSzPct val="100000"/>
              <a:buChar char=" "/>
            </a:pPr>
            <a:r>
              <a:rPr lang="en-US" sz="2800">
                <a:solidFill>
                  <a:srgbClr val="2684C7"/>
                </a:solidFill>
                <a:latin typeface="Calibri"/>
                <a:ea typeface="Calibri"/>
                <a:cs typeface="Calibri"/>
                <a:sym typeface="Calibri"/>
              </a:rPr>
              <a:t>String value=</a:t>
            </a:r>
            <a:r>
              <a:rPr lang="en-US" sz="2800">
                <a:solidFill>
                  <a:srgbClr val="2684C7"/>
                </a:solidFill>
                <a:latin typeface="Calibri"/>
                <a:ea typeface="Calibri"/>
                <a:cs typeface="Calibri"/>
                <a:sym typeface="Calibri"/>
              </a:rPr>
              <a:t>dataGridView1.Rows[0].Cells["Name"].Value.ToString();</a:t>
            </a:r>
            <a:r>
              <a:rPr lang="en-US" sz="2800">
                <a:solidFill>
                  <a:srgbClr val="2684C7"/>
                </a:solidFill>
                <a:latin typeface="Calibri"/>
                <a:ea typeface="Calibri"/>
                <a:cs typeface="Calibri"/>
                <a:sym typeface="Calibri"/>
              </a:rPr>
              <a:t>// </a:t>
            </a:r>
            <a:r>
              <a:rPr lang="en-US" sz="2800">
                <a:solidFill>
                  <a:srgbClr val="404040"/>
                </a:solidFill>
                <a:latin typeface="Calibri"/>
                <a:ea typeface="Calibri"/>
                <a:cs typeface="Calibri"/>
                <a:sym typeface="Calibri"/>
              </a:rPr>
              <a:t>0 is the row index of the cell we want to access, “Name” is the column name.</a:t>
            </a:r>
            <a:endParaRPr/>
          </a:p>
          <a:p>
            <a:pPr indent="-164465" lvl="0" marL="91440" rtl="0" algn="l">
              <a:lnSpc>
                <a:spcPct val="90000"/>
              </a:lnSpc>
              <a:spcBef>
                <a:spcPts val="1400"/>
              </a:spcBef>
              <a:spcAft>
                <a:spcPts val="0"/>
              </a:spcAft>
              <a:buSzPct val="100000"/>
              <a:buFont typeface="Noto Sans Symbols"/>
              <a:buChar char="▪"/>
            </a:pPr>
            <a:r>
              <a:rPr lang="en-US" sz="2800">
                <a:solidFill>
                  <a:srgbClr val="404040"/>
                </a:solidFill>
                <a:latin typeface="Calibri"/>
                <a:ea typeface="Calibri"/>
                <a:cs typeface="Calibri"/>
                <a:sym typeface="Calibri"/>
              </a:rPr>
              <a:t>To remove a row from datagridview:</a:t>
            </a:r>
            <a:endParaRPr/>
          </a:p>
          <a:p>
            <a:pPr indent="-164465" lvl="0" marL="91440" rtl="0" algn="l">
              <a:lnSpc>
                <a:spcPct val="90000"/>
              </a:lnSpc>
              <a:spcBef>
                <a:spcPts val="1400"/>
              </a:spcBef>
              <a:spcAft>
                <a:spcPts val="0"/>
              </a:spcAft>
              <a:buSzPct val="100000"/>
              <a:buChar char=" "/>
            </a:pPr>
            <a:r>
              <a:rPr lang="en-US" sz="2800">
                <a:solidFill>
                  <a:srgbClr val="2684C7"/>
                </a:solidFill>
                <a:latin typeface="Calibri"/>
                <a:ea typeface="Calibri"/>
                <a:cs typeface="Calibri"/>
                <a:sym typeface="Calibri"/>
              </a:rPr>
              <a:t>dataGridView1.Rows.Remove(row);</a:t>
            </a:r>
            <a:endParaRPr/>
          </a:p>
          <a:p>
            <a:pPr indent="-164465" lvl="0" marL="91440" rtl="0" algn="l">
              <a:lnSpc>
                <a:spcPct val="90000"/>
              </a:lnSpc>
              <a:spcBef>
                <a:spcPts val="1400"/>
              </a:spcBef>
              <a:spcAft>
                <a:spcPts val="0"/>
              </a:spcAft>
              <a:buSzPct val="100000"/>
              <a:buFont typeface="Noto Sans Symbols"/>
              <a:buChar char="▪"/>
            </a:pPr>
            <a:r>
              <a:rPr lang="en-US" sz="2800">
                <a:solidFill>
                  <a:srgbClr val="404040"/>
                </a:solidFill>
                <a:latin typeface="Calibri"/>
                <a:ea typeface="Calibri"/>
                <a:cs typeface="Calibri"/>
                <a:sym typeface="Calibri"/>
              </a:rPr>
              <a:t>To remove a column from datagridview:</a:t>
            </a:r>
            <a:endParaRPr/>
          </a:p>
          <a:p>
            <a:pPr indent="-164465" lvl="0" marL="91440" rtl="0" algn="l">
              <a:lnSpc>
                <a:spcPct val="90000"/>
              </a:lnSpc>
              <a:spcBef>
                <a:spcPts val="1400"/>
              </a:spcBef>
              <a:spcAft>
                <a:spcPts val="0"/>
              </a:spcAft>
              <a:buSzPct val="100000"/>
              <a:buChar char=" "/>
            </a:pPr>
            <a:r>
              <a:rPr lang="en-US" sz="2800">
                <a:solidFill>
                  <a:srgbClr val="2684C7"/>
                </a:solidFill>
                <a:latin typeface="Calibri"/>
                <a:ea typeface="Calibri"/>
                <a:cs typeface="Calibri"/>
                <a:sym typeface="Calibri"/>
              </a:rPr>
              <a:t>dataGridView1.Columns.Remove(“Columnname”);</a:t>
            </a:r>
            <a:endParaRPr sz="2800"/>
          </a:p>
        </p:txBody>
      </p:sp>
      <p:sp>
        <p:nvSpPr>
          <p:cNvPr id="392" name="Google Shape;392;p39"/>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40"/>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Datagridview Example</a:t>
            </a:r>
            <a:endParaRPr/>
          </a:p>
        </p:txBody>
      </p:sp>
      <p:sp>
        <p:nvSpPr>
          <p:cNvPr id="399" name="Google Shape;399;p40"/>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rmAutofit/>
          </a:bodyPr>
          <a:lstStyle/>
          <a:p>
            <a:pPr indent="-203200" lvl="0" marL="91440" rtl="0" algn="l">
              <a:lnSpc>
                <a:spcPct val="90000"/>
              </a:lnSpc>
              <a:spcBef>
                <a:spcPts val="0"/>
              </a:spcBef>
              <a:spcAft>
                <a:spcPts val="0"/>
              </a:spcAft>
              <a:buSzPts val="3200"/>
              <a:buFont typeface="Noto Sans Symbols"/>
              <a:buChar char="▪"/>
            </a:pPr>
            <a:r>
              <a:rPr lang="en-US" sz="3200"/>
              <a:t>Provide an event handler for </a:t>
            </a:r>
            <a:r>
              <a:rPr lang="en-US" sz="3200">
                <a:solidFill>
                  <a:srgbClr val="00B0F0"/>
                </a:solidFill>
              </a:rPr>
              <a:t>CellContentClick </a:t>
            </a:r>
            <a:r>
              <a:rPr lang="en-US" sz="3200">
                <a:solidFill>
                  <a:schemeClr val="dk1"/>
                </a:solidFill>
              </a:rPr>
              <a:t>event </a:t>
            </a:r>
            <a:r>
              <a:rPr lang="en-US" sz="3200"/>
              <a:t>(the default event of datagridview)</a:t>
            </a:r>
            <a:endParaRPr/>
          </a:p>
          <a:p>
            <a:pPr indent="-203200" lvl="0" marL="91440" rtl="0" algn="l">
              <a:lnSpc>
                <a:spcPct val="90000"/>
              </a:lnSpc>
              <a:spcBef>
                <a:spcPts val="1400"/>
              </a:spcBef>
              <a:spcAft>
                <a:spcPts val="0"/>
              </a:spcAft>
              <a:buSzPts val="3200"/>
              <a:buFont typeface="Noto Sans Symbols"/>
              <a:buChar char="▪"/>
            </a:pPr>
            <a:r>
              <a:rPr lang="en-US" sz="3200"/>
              <a:t>When a user selects a cell then the cell’s row is deleted.</a:t>
            </a:r>
            <a:endParaRPr/>
          </a:p>
        </p:txBody>
      </p:sp>
      <p:sp>
        <p:nvSpPr>
          <p:cNvPr id="400" name="Google Shape;400;p40"/>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41"/>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Passing data between multiple forms</a:t>
            </a:r>
            <a:endParaRPr/>
          </a:p>
        </p:txBody>
      </p:sp>
      <p:sp>
        <p:nvSpPr>
          <p:cNvPr id="407" name="Google Shape;407;p41"/>
          <p:cNvSpPr txBox="1"/>
          <p:nvPr>
            <p:ph idx="1" type="body"/>
          </p:nvPr>
        </p:nvSpPr>
        <p:spPr>
          <a:xfrm>
            <a:off x="822959" y="1905000"/>
            <a:ext cx="7543801" cy="4023360"/>
          </a:xfrm>
          <a:prstGeom prst="rect">
            <a:avLst/>
          </a:prstGeom>
          <a:noFill/>
          <a:ln>
            <a:noFill/>
          </a:ln>
        </p:spPr>
        <p:txBody>
          <a:bodyPr anchorCtr="0" anchor="t" bIns="45700" lIns="0" spcFirstLastPara="1" rIns="0" wrap="square" tIns="45700">
            <a:normAutofit lnSpcReduction="10000"/>
          </a:bodyPr>
          <a:lstStyle/>
          <a:p>
            <a:pPr indent="-177800" lvl="0" marL="91440" rtl="0" algn="l">
              <a:lnSpc>
                <a:spcPct val="90000"/>
              </a:lnSpc>
              <a:spcBef>
                <a:spcPts val="0"/>
              </a:spcBef>
              <a:spcAft>
                <a:spcPts val="0"/>
              </a:spcAft>
              <a:buSzPts val="2800"/>
              <a:buFont typeface="Noto Sans Symbols"/>
              <a:buChar char="▪"/>
            </a:pPr>
            <a:r>
              <a:rPr lang="en-US" sz="2800">
                <a:solidFill>
                  <a:srgbClr val="000000"/>
                </a:solidFill>
                <a:latin typeface="Calibri"/>
                <a:ea typeface="Calibri"/>
                <a:cs typeface="Calibri"/>
                <a:sym typeface="Calibri"/>
              </a:rPr>
              <a:t>Add a “Next” button to the form(Form1) that when clicked opens another form (Form2) containing a textbox of number of entered names in Form1.</a:t>
            </a:r>
            <a:endParaRPr/>
          </a:p>
          <a:p>
            <a:pPr indent="-177800" lvl="0" marL="91440" rtl="0" algn="l">
              <a:lnSpc>
                <a:spcPct val="90000"/>
              </a:lnSpc>
              <a:spcBef>
                <a:spcPts val="1400"/>
              </a:spcBef>
              <a:spcAft>
                <a:spcPts val="0"/>
              </a:spcAft>
              <a:buSzPts val="2800"/>
              <a:buChar char=" "/>
            </a:pPr>
            <a:r>
              <a:rPr lang="en-US" sz="2800">
                <a:solidFill>
                  <a:srgbClr val="2684C7"/>
                </a:solidFill>
                <a:latin typeface="Calibri"/>
                <a:ea typeface="Calibri"/>
                <a:cs typeface="Calibri"/>
                <a:sym typeface="Calibri"/>
              </a:rPr>
              <a:t>Reminder, to create a new form from code:</a:t>
            </a:r>
            <a:endParaRPr/>
          </a:p>
          <a:p>
            <a:pPr indent="-177800" lvl="0" marL="91440" rtl="0" algn="l">
              <a:lnSpc>
                <a:spcPct val="90000"/>
              </a:lnSpc>
              <a:spcBef>
                <a:spcPts val="1400"/>
              </a:spcBef>
              <a:spcAft>
                <a:spcPts val="0"/>
              </a:spcAft>
              <a:buSzPts val="2800"/>
              <a:buChar char=" "/>
            </a:pPr>
            <a:r>
              <a:rPr lang="en-US" sz="2800">
                <a:solidFill>
                  <a:srgbClr val="2684C7"/>
                </a:solidFill>
                <a:latin typeface="Calibri"/>
                <a:ea typeface="Calibri"/>
                <a:cs typeface="Calibri"/>
                <a:sym typeface="Calibri"/>
              </a:rPr>
              <a:t>Form2 f=new Form2();// create a new form</a:t>
            </a:r>
            <a:endParaRPr/>
          </a:p>
          <a:p>
            <a:pPr indent="-177800" lvl="0" marL="91440" rtl="0" algn="l">
              <a:lnSpc>
                <a:spcPct val="90000"/>
              </a:lnSpc>
              <a:spcBef>
                <a:spcPts val="1400"/>
              </a:spcBef>
              <a:spcAft>
                <a:spcPts val="0"/>
              </a:spcAft>
              <a:buSzPts val="2800"/>
              <a:buChar char=" "/>
            </a:pPr>
            <a:r>
              <a:rPr lang="en-US" sz="2800">
                <a:solidFill>
                  <a:srgbClr val="2684C7"/>
                </a:solidFill>
                <a:latin typeface="Calibri"/>
                <a:ea typeface="Calibri"/>
                <a:cs typeface="Calibri"/>
                <a:sym typeface="Calibri"/>
              </a:rPr>
              <a:t>f.Show();//to show the form</a:t>
            </a:r>
            <a:endParaRPr/>
          </a:p>
          <a:p>
            <a:pPr indent="-177800" lvl="0" marL="91440" rtl="0" algn="l">
              <a:lnSpc>
                <a:spcPct val="90000"/>
              </a:lnSpc>
              <a:spcBef>
                <a:spcPts val="1400"/>
              </a:spcBef>
              <a:spcAft>
                <a:spcPts val="0"/>
              </a:spcAft>
              <a:buSzPts val="2800"/>
              <a:buFont typeface="Noto Sans Symbols"/>
              <a:buChar char="▪"/>
            </a:pPr>
            <a:r>
              <a:rPr lang="en-US" sz="2800">
                <a:solidFill>
                  <a:srgbClr val="000000"/>
                </a:solidFill>
                <a:latin typeface="Calibri"/>
                <a:ea typeface="Calibri"/>
                <a:cs typeface="Calibri"/>
                <a:sym typeface="Calibri"/>
              </a:rPr>
              <a:t>Think about how to pass number of names (number of rows in the gridview) to the new form.</a:t>
            </a:r>
            <a:endParaRPr sz="2800"/>
          </a:p>
        </p:txBody>
      </p:sp>
      <p:sp>
        <p:nvSpPr>
          <p:cNvPr id="408" name="Google Shape;408;p41"/>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42"/>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p>
            <a:pPr indent="0" lvl="0" marL="0" rtl="1" algn="r">
              <a:lnSpc>
                <a:spcPct val="85000"/>
              </a:lnSpc>
              <a:spcBef>
                <a:spcPts val="0"/>
              </a:spcBef>
              <a:spcAft>
                <a:spcPts val="0"/>
              </a:spcAft>
              <a:buClr>
                <a:srgbClr val="3F3F3F"/>
              </a:buClr>
              <a:buSzPts val="4800"/>
              <a:buFont typeface="Calibri"/>
              <a:buNone/>
            </a:pPr>
            <a:r>
              <a:rPr lang="en-US"/>
              <a:t>عبعزيز</a:t>
            </a:r>
            <a:endParaRPr/>
          </a:p>
        </p:txBody>
      </p:sp>
      <p:sp>
        <p:nvSpPr>
          <p:cNvPr id="414" name="Google Shape;414;p42"/>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rmAutofit/>
          </a:bodyPr>
          <a:lstStyle/>
          <a:p>
            <a:pPr indent="0" lvl="0" marL="91440" rtl="0" algn="l">
              <a:lnSpc>
                <a:spcPct val="90000"/>
              </a:lnSpc>
              <a:spcBef>
                <a:spcPts val="0"/>
              </a:spcBef>
              <a:spcAft>
                <a:spcPts val="0"/>
              </a:spcAft>
              <a:buSzPts val="2000"/>
              <a:buNone/>
            </a:pPr>
            <a:r>
              <a:t/>
            </a:r>
            <a:endParaRPr/>
          </a:p>
        </p:txBody>
      </p:sp>
      <p:sp>
        <p:nvSpPr>
          <p:cNvPr id="415" name="Google Shape;415;p42"/>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16" name="Google Shape;416;p42"/>
          <p:cNvSpPr/>
          <p:nvPr/>
        </p:nvSpPr>
        <p:spPr>
          <a:xfrm>
            <a:off x="3501291" y="3169318"/>
            <a:ext cx="2141420" cy="623313"/>
          </a:xfrm>
          <a:prstGeom prst="rect">
            <a:avLst/>
          </a:prstGeom>
          <a:noFill/>
          <a:ln>
            <a:noFill/>
          </a:ln>
        </p:spPr>
        <p:txBody>
          <a:bodyPr anchorCtr="0" anchor="t" bIns="25700" lIns="51425" spcFirstLastPara="1" rIns="51425" wrap="square" tIns="25700">
            <a:spAutoFit/>
          </a:bodyPr>
          <a:lstStyle/>
          <a:p>
            <a:pPr indent="0" lvl="0" marL="0" marR="0" rtl="0" algn="ctr">
              <a:spcBef>
                <a:spcPts val="0"/>
              </a:spcBef>
              <a:spcAft>
                <a:spcPts val="0"/>
              </a:spcAft>
              <a:buNone/>
            </a:pPr>
            <a:r>
              <a:rPr b="1" lang="en-US" sz="3713">
                <a:solidFill>
                  <a:srgbClr val="EAB9A3"/>
                </a:solidFill>
                <a:latin typeface="Calibri"/>
                <a:ea typeface="Calibri"/>
                <a:cs typeface="Calibri"/>
                <a:sym typeface="Calibri"/>
              </a:rPr>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Retrospect">
  <a:themeElements>
    <a:clrScheme name="Retrospect">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Lydia Wahid</dc:creator>
</cp:coreProperties>
</file>